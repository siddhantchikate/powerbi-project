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c43e072-ba1d-b3bd-3a96-f2172841a020}">
          <p14:sldIdLst>
            <p14:sldId id="256"/>
            <p14:sldId id="257"/>
          </p14:sldIdLst>
        </p14:section>
        <p14:section name="Data and Model" id="{0255518b-a7c0-6078-830f-3189bfd52cf3}">
          <p14:sldIdLst>
            <p14:sldId id="258"/>
            <p14:sldId id="259"/>
            <p14:sldId id="260"/>
          </p14:sldIdLst>
        </p14:section>
        <p14:section name="Dashboard Analysis" id="{93c6d8b7-123d-21c0-f894-532e1077f3f2}">
          <p14:sldIdLst>
            <p14:sldId id="261"/>
            <p14:sldId id="262"/>
            <p14:sldId id="263"/>
            <p14:sldId id="264"/>
            <p14:sldId id="265"/>
            <p14:sldId id="266"/>
            <p14:sldId id="267"/>
            <p14:sldId id="268"/>
            <p14:sldId id="269"/>
            <p14:sldId id="270"/>
          </p14:sldIdLst>
        </p14:section>
        <p14:section name="Outcomes" id="{7b1494ac-16f6-a8bf-217b-f5a1947621dc}">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mn-lt"/>
              </a:defRPr>
            </a:pPr>
            <a:r>
              <a:rPr sz="1200" b="0" i="0" u="none" strike="noStrike">
                <a:solidFill>
                  <a:srgbClr val="0B1F33"/>
                </a:solidFill>
                <a:latin typeface="+mn-lt"/>
              </a:rPr>
              <a:t>Appointments by month and year</a:t>
            </a:r>
          </a:p>
        </c:rich>
      </c:tx>
      <c:layout/>
      <c:overlay val="0"/>
    </c:title>
    <c:autoTitleDeleted val="0"/>
    <c:plotArea>
      <c:layout/>
      <c:lineChart>
        <c:varyColors val="0"/>
        <c:ser>
          <c:idx val="0"/>
          <c:order val="0"/>
          <c:tx>
            <c:strRef>
              <c:f>Sheet1!$B$1</c:f>
              <c:strCache>
                <c:ptCount val="1"/>
                <c:pt idx="0">
                  <c:v>2024</c:v>
                </c:pt>
              </c:strCache>
            </c:strRef>
          </c:tx>
          <c:spPr>
            <a:solidFill>
              <a:srgbClr val="94A3B8"/>
            </a:solidFill>
            <a:ln w="31750" cap="flat">
              <a:solidFill>
                <a:srgbClr val="94A3B8"/>
              </a:solidFill>
              <a:prstDash val="solid"/>
              <a:round/>
            </a:ln>
            <a:effectLst/>
          </c:spPr>
          <c:invertIfNegative val="0"/>
          <c:dLbls>
            <c:numFmt formatCode="#,##0" sourceLinked="0"/>
            <c:txPr>
              <a:bodyPr/>
              <a:lstStyle/>
              <a:p>
                <a:pPr>
                  <a:defRPr b="0" i="0" strike="noStrike" sz="1000" u="none">
                    <a:solidFill>
                      <a:srgbClr val="0B1F33"/>
                    </a:solidFill>
                    <a:latin typeface="+mn-lt"/>
                  </a:defRPr>
                </a:pPr>
              </a:p>
            </c:txPr>
            <c:showLegendKey val="0"/>
            <c:showVal val="0"/>
            <c:showCatName val="0"/>
            <c:showSerName val="0"/>
            <c:showPercent val="0"/>
            <c:showBubbleSize val="0"/>
            <c:showLeaderLines val="0"/>
          </c:dLbls>
          <c:marker>
            <c:symbol val="circle"/>
            <c:size val="6"/>
            <c:spPr>
              <a:solidFill>
                <a:srgbClr val="94A3B8"/>
              </a:solidFill>
              <a:ln w="9525" cap="flat">
                <a:solidFill>
                  <a:srgbClr val="94A3B8"/>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31</c:v>
                </c:pt>
                <c:pt idx="1">
                  <c:v>48</c:v>
                </c:pt>
                <c:pt idx="2">
                  <c:v>52</c:v>
                </c:pt>
                <c:pt idx="3">
                  <c:v>50</c:v>
                </c:pt>
                <c:pt idx="4">
                  <c:v>54</c:v>
                </c:pt>
                <c:pt idx="5">
                  <c:v>59</c:v>
                </c:pt>
                <c:pt idx="6">
                  <c:v>56</c:v>
                </c:pt>
                <c:pt idx="7">
                  <c:v>56</c:v>
                </c:pt>
                <c:pt idx="8">
                  <c:v>54</c:v>
                </c:pt>
                <c:pt idx="9">
                  <c:v>54</c:v>
                </c:pt>
                <c:pt idx="10">
                  <c:v>62</c:v>
                </c:pt>
                <c:pt idx="11">
                  <c:v>70</c:v>
                </c:pt>
              </c:numCache>
            </c:numRef>
          </c:val>
          <c:smooth val="0"/>
        </c:ser>
        <c:ser>
          <c:idx val="1"/>
          <c:order val="1"/>
          <c:tx>
            <c:strRef>
              <c:f>Sheet1!$C$1</c:f>
              <c:strCache>
                <c:ptCount val="1"/>
                <c:pt idx="0">
                  <c:v>2025</c:v>
                </c:pt>
              </c:strCache>
            </c:strRef>
          </c:tx>
          <c:spPr>
            <a:solidFill>
              <a:srgbClr val="2B6CB0"/>
            </a:solidFill>
            <a:ln w="31750" cap="flat">
              <a:solidFill>
                <a:srgbClr val="2B6CB0"/>
              </a:solidFill>
              <a:prstDash val="solid"/>
              <a:round/>
            </a:ln>
            <a:effectLst/>
          </c:spPr>
          <c:invertIfNegative val="0"/>
          <c:dLbls>
            <c:numFmt formatCode="#,##0" sourceLinked="0"/>
            <c:txPr>
              <a:bodyPr/>
              <a:lstStyle/>
              <a:p>
                <a:pPr>
                  <a:defRPr b="0" i="0" strike="noStrike" sz="1000" u="none">
                    <a:solidFill>
                      <a:srgbClr val="0B1F33"/>
                    </a:solidFill>
                    <a:latin typeface="+mn-lt"/>
                  </a:defRPr>
                </a:pPr>
              </a:p>
            </c:txPr>
            <c:showLegendKey val="0"/>
            <c:showVal val="0"/>
            <c:showCatName val="0"/>
            <c:showSerName val="0"/>
            <c:showPercent val="0"/>
            <c:showBubbleSize val="0"/>
            <c:showLeaderLines val="0"/>
          </c:dLbls>
          <c:marker>
            <c:symbol val="circle"/>
            <c:size val="6"/>
            <c:spPr>
              <a:solidFill>
                <a:srgbClr val="2B6CB0"/>
              </a:solidFill>
              <a:ln w="9525" cap="flat">
                <a:solidFill>
                  <a:srgbClr val="2B6CB0"/>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72</c:v>
                </c:pt>
                <c:pt idx="1">
                  <c:v>65</c:v>
                </c:pt>
                <c:pt idx="2">
                  <c:v>74</c:v>
                </c:pt>
                <c:pt idx="3">
                  <c:v>69</c:v>
                </c:pt>
                <c:pt idx="4">
                  <c:v>60</c:v>
                </c:pt>
                <c:pt idx="5">
                  <c:v>68</c:v>
                </c:pt>
                <c:pt idx="6">
                  <c:v>72</c:v>
                </c:pt>
                <c:pt idx="7">
                  <c:v>82</c:v>
                </c:pt>
                <c:pt idx="8">
                  <c:v>103</c:v>
                </c:pt>
                <c:pt idx="9">
                  <c:v>96</c:v>
                </c:pt>
                <c:pt idx="10">
                  <c:v>81</c:v>
                </c:pt>
                <c:pt idx="11">
                  <c:v>92</c:v>
                </c:pt>
              </c:numCache>
            </c:numRef>
          </c:val>
          <c:smooth val="0"/>
        </c:ser>
        <c:ser>
          <c:idx val="2"/>
          <c:order val="2"/>
          <c:tx>
            <c:strRef>
              <c:f>Sheet1!$D$1</c:f>
              <c:strCache>
                <c:ptCount val="1"/>
                <c:pt idx="0">
                  <c:v>2026</c:v>
                </c:pt>
              </c:strCache>
            </c:strRef>
          </c:tx>
          <c:spPr>
            <a:solidFill>
              <a:srgbClr val="0F766E"/>
            </a:solidFill>
            <a:ln w="31750" cap="flat">
              <a:solidFill>
                <a:srgbClr val="0F766E"/>
              </a:solidFill>
              <a:prstDash val="solid"/>
              <a:round/>
            </a:ln>
            <a:effectLst/>
          </c:spPr>
          <c:invertIfNegative val="0"/>
          <c:dLbls>
            <c:numFmt formatCode="#,##0" sourceLinked="0"/>
            <c:txPr>
              <a:bodyPr/>
              <a:lstStyle/>
              <a:p>
                <a:pPr>
                  <a:defRPr b="0" i="0" strike="noStrike" sz="1000" u="none">
                    <a:solidFill>
                      <a:srgbClr val="0B1F33"/>
                    </a:solidFill>
                    <a:latin typeface="+mn-lt"/>
                  </a:defRPr>
                </a:pPr>
              </a:p>
            </c:txPr>
            <c:showLegendKey val="0"/>
            <c:showVal val="0"/>
            <c:showCatName val="0"/>
            <c:showSerName val="0"/>
            <c:showPercent val="0"/>
            <c:showBubbleSize val="0"/>
            <c:showLeaderLines val="0"/>
          </c:dLbls>
          <c:marker>
            <c:symbol val="circle"/>
            <c:size val="6"/>
            <c:spPr>
              <a:solidFill>
                <a:srgbClr val="0F766E"/>
              </a:solidFill>
              <a:ln w="9525" cap="flat">
                <a:solidFill>
                  <a:srgbClr val="0F766E"/>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Sheet1!$D$2:$D$13</c:f>
              <c:numCache>
                <c:formatCode>General</c:formatCode>
                <c:ptCount val="12"/>
                <c:pt idx="0">
                  <c:v>104</c:v>
                </c:pt>
                <c:pt idx="1">
                  <c:v>99</c:v>
                </c:pt>
                <c:pt idx="2">
                  <c:v>118</c:v>
                </c:pt>
                <c:pt idx="3">
                  <c:v>111</c:v>
                </c:pt>
                <c:pt idx="4">
                  <c:v>117</c:v>
                </c:pt>
                <c:pt idx="5">
                  <c:v>110</c:v>
                </c:pt>
                <c:pt idx="6">
                  <c:v>136</c:v>
                </c:pt>
                <c:pt idx="7">
                  <c:v>164</c:v>
                </c:pt>
                <c:pt idx="8">
                  <c:v>187</c:v>
                </c:pt>
                <c:pt idx="9">
                  <c:v>142</c:v>
                </c:pt>
                <c:pt idx="10">
                  <c:v>85</c:v>
                </c:pt>
                <c:pt idx="11">
                  <c:v>47</c:v>
                </c:pt>
              </c:numCache>
            </c:numRef>
          </c:val>
          <c:smooth val="0"/>
        </c:ser>
        <c:dLbls>
          <c:numFmt formatCode="#,##0" sourceLinked="0"/>
          <c:txPr>
            <a:bodyPr/>
            <a:lstStyle/>
            <a:p>
              <a:pPr>
                <a:defRPr b="0" i="0" strike="noStrike" sz="1000" u="none">
                  <a:solidFill>
                    <a:srgbClr val="0B1F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7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mn-lt"/>
              </a:defRPr>
            </a:pPr>
            <a:r>
              <a:rPr sz="1200" b="0" i="0" u="none" strike="noStrike">
                <a:solidFill>
                  <a:srgbClr val="0B1F33"/>
                </a:solidFill>
                <a:latin typeface="+mn-lt"/>
              </a:rPr>
              <a:t>Revenue by month (₹ thousand, completed visits)</a:t>
            </a:r>
          </a:p>
        </c:rich>
      </c:tx>
      <c:layout/>
      <c:overlay val="0"/>
    </c:title>
    <c:autoTitleDeleted val="0"/>
    <c:plotArea>
      <c:layout/>
      <c:areaChart>
        <c:varyColors val="0"/>
        <c:ser>
          <c:idx val="0"/>
          <c:order val="0"/>
          <c:tx>
            <c:strRef>
              <c:f>Sheet1!$B$1</c:f>
              <c:strCache>
                <c:ptCount val="1"/>
                <c:pt idx="0">
                  <c:v>Revenue (₹ thousand)</c:v>
                </c:pt>
              </c:strCache>
            </c:strRef>
          </c:tx>
          <c:spPr>
            <a:solidFill>
              <a:srgbClr val="0F766E"/>
            </a:solidFill>
            <a:effectLst/>
          </c:spPr>
          <c:invertIfNegative val="0"/>
          <c:dLbls>
            <c:numFmt formatCode="#,##0" sourceLinked="0"/>
            <c:txPr>
              <a:bodyPr/>
              <a:lstStyle/>
              <a:p>
                <a:pPr>
                  <a:defRPr b="0" i="0" strike="noStrike" sz="1000" u="none">
                    <a:solidFill>
                      <a:srgbClr val="0B1F33"/>
                    </a:solidFill>
                    <a:latin typeface="+mn-lt"/>
                  </a:defRPr>
                </a:pPr>
              </a:p>
            </c:txPr>
            <c:showLegendKey val="0"/>
            <c:showVal val="0"/>
            <c:showCatName val="0"/>
            <c:showSerName val="0"/>
            <c:showPercent val="0"/>
            <c:showBubbleSize val="0"/>
            <c:showLeaderLines val="0"/>
          </c:dLbls>
          <c:cat>
            <c:multiLvlStrRef>
              <c:f>Sheet1!$A$2:$A$37</c:f>
              <c:multiLvlStrCache>
                <c:ptCount val="36"/>
                <c:lvl>
                  <c:pt idx="0">
                    <c:v>Jan 24</c:v>
                  </c:pt>
                  <c:pt idx="1">
                    <c:v>Feb 24</c:v>
                  </c:pt>
                  <c:pt idx="2">
                    <c:v>Mar 24</c:v>
                  </c:pt>
                  <c:pt idx="3">
                    <c:v>Apr 24</c:v>
                  </c:pt>
                  <c:pt idx="4">
                    <c:v>May 24</c:v>
                  </c:pt>
                  <c:pt idx="5">
                    <c:v>Jun 24</c:v>
                  </c:pt>
                  <c:pt idx="6">
                    <c:v>Jul 24</c:v>
                  </c:pt>
                  <c:pt idx="7">
                    <c:v>Aug 24</c:v>
                  </c:pt>
                  <c:pt idx="8">
                    <c:v>Sep 24</c:v>
                  </c:pt>
                  <c:pt idx="9">
                    <c:v>Oct 24</c:v>
                  </c:pt>
                  <c:pt idx="10">
                    <c:v>Nov 24</c:v>
                  </c:pt>
                  <c:pt idx="11">
                    <c:v>Dec 24</c:v>
                  </c:pt>
                  <c:pt idx="12">
                    <c:v>Jan 25</c:v>
                  </c:pt>
                  <c:pt idx="13">
                    <c:v>Feb 25</c:v>
                  </c:pt>
                  <c:pt idx="14">
                    <c:v>Mar 25</c:v>
                  </c:pt>
                  <c:pt idx="15">
                    <c:v>Apr 25</c:v>
                  </c:pt>
                  <c:pt idx="16">
                    <c:v>May 25</c:v>
                  </c:pt>
                  <c:pt idx="17">
                    <c:v>Jun 25</c:v>
                  </c:pt>
                  <c:pt idx="18">
                    <c:v>Jul 25</c:v>
                  </c:pt>
                  <c:pt idx="19">
                    <c:v>Aug 25</c:v>
                  </c:pt>
                  <c:pt idx="20">
                    <c:v>Sep 25</c:v>
                  </c:pt>
                  <c:pt idx="21">
                    <c:v>Oct 25</c:v>
                  </c:pt>
                  <c:pt idx="22">
                    <c:v>Nov 25</c:v>
                  </c:pt>
                  <c:pt idx="23">
                    <c:v>Dec 25</c:v>
                  </c:pt>
                  <c:pt idx="24">
                    <c:v>Jan 26</c:v>
                  </c:pt>
                  <c:pt idx="25">
                    <c:v>Feb 26</c:v>
                  </c:pt>
                  <c:pt idx="26">
                    <c:v>Mar 26</c:v>
                  </c:pt>
                  <c:pt idx="27">
                    <c:v>Apr 26</c:v>
                  </c:pt>
                  <c:pt idx="28">
                    <c:v>May 26</c:v>
                  </c:pt>
                  <c:pt idx="29">
                    <c:v>Jun 26</c:v>
                  </c:pt>
                  <c:pt idx="30">
                    <c:v>Jul 26</c:v>
                  </c:pt>
                  <c:pt idx="31">
                    <c:v>Aug 26</c:v>
                  </c:pt>
                  <c:pt idx="32">
                    <c:v>Sep 26</c:v>
                  </c:pt>
                  <c:pt idx="33">
                    <c:v>Oct 26</c:v>
                  </c:pt>
                  <c:pt idx="34">
                    <c:v>Nov 26</c:v>
                  </c:pt>
                  <c:pt idx="35">
                    <c:v>Dec 26</c:v>
                  </c:pt>
                </c:lvl>
              </c:multiLvlStrCache>
            </c:multiLvlStrRef>
          </c:cat>
          <c:val>
            <c:numRef>
              <c:f>Sheet1!$B$2:$B$37</c:f>
              <c:numCache>
                <c:formatCode>General</c:formatCode>
                <c:ptCount val="36"/>
                <c:pt idx="0">
                  <c:v>28.25</c:v>
                </c:pt>
                <c:pt idx="1">
                  <c:v>38.75</c:v>
                </c:pt>
                <c:pt idx="2">
                  <c:v>48.95</c:v>
                </c:pt>
                <c:pt idx="3">
                  <c:v>50.95</c:v>
                </c:pt>
                <c:pt idx="4">
                  <c:v>44.5</c:v>
                </c:pt>
                <c:pt idx="5">
                  <c:v>52.75</c:v>
                </c:pt>
                <c:pt idx="6">
                  <c:v>52.75</c:v>
                </c:pt>
                <c:pt idx="7">
                  <c:v>57.2</c:v>
                </c:pt>
                <c:pt idx="8">
                  <c:v>47.5</c:v>
                </c:pt>
                <c:pt idx="9">
                  <c:v>43.7</c:v>
                </c:pt>
                <c:pt idx="10">
                  <c:v>61.2</c:v>
                </c:pt>
                <c:pt idx="11">
                  <c:v>65.25</c:v>
                </c:pt>
                <c:pt idx="12">
                  <c:v>73.6</c:v>
                </c:pt>
                <c:pt idx="13">
                  <c:v>63.8</c:v>
                </c:pt>
                <c:pt idx="14">
                  <c:v>65.4</c:v>
                </c:pt>
                <c:pt idx="15">
                  <c:v>56.05</c:v>
                </c:pt>
                <c:pt idx="16">
                  <c:v>53.65</c:v>
                </c:pt>
                <c:pt idx="17">
                  <c:v>64.75</c:v>
                </c:pt>
                <c:pt idx="18">
                  <c:v>59.85</c:v>
                </c:pt>
                <c:pt idx="19">
                  <c:v>79</c:v>
                </c:pt>
                <c:pt idx="20">
                  <c:v>95.3</c:v>
                </c:pt>
                <c:pt idx="21">
                  <c:v>94.8</c:v>
                </c:pt>
                <c:pt idx="22">
                  <c:v>82.4</c:v>
                </c:pt>
                <c:pt idx="23">
                  <c:v>87.6</c:v>
                </c:pt>
                <c:pt idx="24">
                  <c:v>101.25</c:v>
                </c:pt>
                <c:pt idx="25">
                  <c:v>103.1</c:v>
                </c:pt>
                <c:pt idx="26">
                  <c:v>93.1</c:v>
                </c:pt>
                <c:pt idx="27">
                  <c:v>98.4</c:v>
                </c:pt>
                <c:pt idx="28">
                  <c:v>103.55</c:v>
                </c:pt>
                <c:pt idx="29">
                  <c:v>95.45</c:v>
                </c:pt>
                <c:pt idx="30">
                  <c:v>129.65</c:v>
                </c:pt>
                <c:pt idx="31">
                  <c:v>144.95</c:v>
                </c:pt>
                <c:pt idx="32">
                  <c:v>180.6</c:v>
                </c:pt>
                <c:pt idx="33">
                  <c:v>30.65</c:v>
                </c:pt>
                <c:pt idx="34">
                  <c:v>0</c:v>
                </c:pt>
                <c:pt idx="35">
                  <c:v>0</c:v>
                </c:pt>
              </c:numCache>
            </c:numRef>
          </c:val>
        </c:ser>
        <c:dLbls>
          <c:numFmt formatCode="#,##0" sourceLinked="0"/>
          <c:txPr>
            <a:bodyPr/>
            <a:lstStyle/>
            <a:p>
              <a:pPr>
                <a:defRPr b="0" i="0" strike="noStrike" sz="1000" u="none">
                  <a:solidFill>
                    <a:srgbClr val="0B1F33"/>
                  </a:solidFill>
                  <a:latin typeface="+mn-lt"/>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6350"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mn-lt"/>
              </a:defRPr>
            </a:pPr>
            <a:r>
              <a:rPr sz="1200" b="0" i="0" u="none" strike="noStrike">
                <a:solidFill>
                  <a:srgbClr val="0B1F33"/>
                </a:solidFill>
                <a:latin typeface="+mn-lt"/>
              </a:rPr>
              <a:t>Appointments by department</a:t>
            </a:r>
          </a:p>
        </c:rich>
      </c:tx>
      <c:layout/>
      <c:overlay val="0"/>
    </c:title>
    <c:autoTitleDeleted val="0"/>
    <c:plotArea>
      <c:layout/>
      <c:barChart>
        <c:barDir val="bar"/>
        <c:grouping val="clustered"/>
        <c:varyColors val="0"/>
        <c:ser>
          <c:idx val="0"/>
          <c:order val="0"/>
          <c:tx>
            <c:strRef>
              <c:f>Sheet1!$B$1</c:f>
              <c:strCache>
                <c:ptCount val="1"/>
                <c:pt idx="0">
                  <c:v>Appointments by department</c:v>
                </c:pt>
              </c:strCache>
            </c:strRef>
          </c:tx>
          <c:spPr>
            <a:solidFill>
              <a:srgbClr val="2B6CB0"/>
            </a:solidFill>
            <a:effectLst/>
          </c:spPr>
          <c:invertIfNegative val="0"/>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cat>
            <c:multiLvlStrRef>
              <c:f>Sheet1!$A$2:$A$11</c:f>
              <c:multiLvlStrCache>
                <c:ptCount val="10"/>
                <c:lvl>
                  <c:pt idx="0">
                    <c:v>General Medicine</c:v>
                  </c:pt>
                  <c:pt idx="1">
                    <c:v>Orthopedics</c:v>
                  </c:pt>
                  <c:pt idx="2">
                    <c:v>Dermatology</c:v>
                  </c:pt>
                  <c:pt idx="3">
                    <c:v>ENT</c:v>
                  </c:pt>
                  <c:pt idx="4">
                    <c:v>Gastroenterology</c:v>
                  </c:pt>
                  <c:pt idx="5">
                    <c:v>Cardiology</c:v>
                  </c:pt>
                  <c:pt idx="6">
                    <c:v>Pediatrics</c:v>
                  </c:pt>
                  <c:pt idx="7">
                    <c:v>Ophthalmology</c:v>
                  </c:pt>
                  <c:pt idx="8">
                    <c:v>Gynecology</c:v>
                  </c:pt>
                  <c:pt idx="9">
                    <c:v>Neurology</c:v>
                  </c:pt>
                </c:lvl>
              </c:multiLvlStrCache>
            </c:multiLvlStrRef>
          </c:cat>
          <c:val>
            <c:numRef>
              <c:f>Sheet1!$B$2:$B$11</c:f>
              <c:numCache>
                <c:formatCode>General</c:formatCode>
                <c:ptCount val="10"/>
                <c:pt idx="0">
                  <c:v>708</c:v>
                </c:pt>
                <c:pt idx="1">
                  <c:v>424</c:v>
                </c:pt>
                <c:pt idx="2">
                  <c:v>306</c:v>
                </c:pt>
                <c:pt idx="3">
                  <c:v>246</c:v>
                </c:pt>
                <c:pt idx="4">
                  <c:v>245</c:v>
                </c:pt>
                <c:pt idx="5">
                  <c:v>234</c:v>
                </c:pt>
                <c:pt idx="6">
                  <c:v>230</c:v>
                </c:pt>
                <c:pt idx="7">
                  <c:v>222</c:v>
                </c:pt>
                <c:pt idx="8">
                  <c:v>194</c:v>
                </c:pt>
                <c:pt idx="9">
                  <c:v>191</c:v>
                </c:pt>
              </c:numCache>
            </c:numRef>
          </c:val>
        </c:ser>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mn-lt"/>
              </a:defRPr>
            </a:pPr>
            <a:r>
              <a:rPr sz="1200" b="0" i="0" u="none" strike="noStrike">
                <a:solidFill>
                  <a:srgbClr val="0B1F33"/>
                </a:solidFill>
                <a:latin typeface="+mn-lt"/>
              </a:rPr>
              <a:t>Revenue by department (₹ thousand)</a:t>
            </a:r>
          </a:p>
        </c:rich>
      </c:tx>
      <c:layout/>
      <c:overlay val="0"/>
    </c:title>
    <c:autoTitleDeleted val="0"/>
    <c:plotArea>
      <c:layout/>
      <c:barChart>
        <c:barDir val="bar"/>
        <c:grouping val="clustered"/>
        <c:varyColors val="0"/>
        <c:ser>
          <c:idx val="0"/>
          <c:order val="0"/>
          <c:tx>
            <c:strRef>
              <c:f>Sheet1!$B$1</c:f>
              <c:strCache>
                <c:ptCount val="1"/>
                <c:pt idx="0">
                  <c:v>Revenue by department (₹ thousand)</c:v>
                </c:pt>
              </c:strCache>
            </c:strRef>
          </c:tx>
          <c:spPr>
            <a:solidFill>
              <a:srgbClr val="0F766E"/>
            </a:solidFill>
            <a:effectLst/>
          </c:spPr>
          <c:invertIfNegative val="0"/>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cat>
            <c:multiLvlStrRef>
              <c:f>Sheet1!$A$2:$A$11</c:f>
              <c:multiLvlStrCache>
                <c:ptCount val="10"/>
                <c:lvl>
                  <c:pt idx="0">
                    <c:v>Orthopedics</c:v>
                  </c:pt>
                  <c:pt idx="1">
                    <c:v>General Medicine</c:v>
                  </c:pt>
                  <c:pt idx="2">
                    <c:v>Cardiology</c:v>
                  </c:pt>
                  <c:pt idx="3">
                    <c:v>Gastroenterology</c:v>
                  </c:pt>
                  <c:pt idx="4">
                    <c:v>Dermatology</c:v>
                  </c:pt>
                  <c:pt idx="5">
                    <c:v>Neurology</c:v>
                  </c:pt>
                  <c:pt idx="6">
                    <c:v>Gynecology</c:v>
                  </c:pt>
                  <c:pt idx="7">
                    <c:v>ENT</c:v>
                  </c:pt>
                  <c:pt idx="8">
                    <c:v>Ophthalmology</c:v>
                  </c:pt>
                  <c:pt idx="9">
                    <c:v>Pediatrics</c:v>
                  </c:pt>
                </c:lvl>
              </c:multiLvlStrCache>
            </c:multiLvlStrRef>
          </c:cat>
          <c:val>
            <c:numRef>
              <c:f>Sheet1!$B$2:$B$11</c:f>
              <c:numCache>
                <c:formatCode>General</c:formatCode>
                <c:ptCount val="10"/>
                <c:pt idx="0">
                  <c:v>451.9</c:v>
                </c:pt>
                <c:pt idx="1">
                  <c:v>355.05</c:v>
                </c:pt>
                <c:pt idx="2">
                  <c:v>309.4</c:v>
                </c:pt>
                <c:pt idx="3">
                  <c:v>298.9</c:v>
                </c:pt>
                <c:pt idx="4">
                  <c:v>249.7</c:v>
                </c:pt>
                <c:pt idx="5">
                  <c:v>214.7</c:v>
                </c:pt>
                <c:pt idx="6">
                  <c:v>179.5</c:v>
                </c:pt>
                <c:pt idx="7">
                  <c:v>174.25</c:v>
                </c:pt>
                <c:pt idx="8">
                  <c:v>172.65</c:v>
                </c:pt>
                <c:pt idx="9">
                  <c:v>142.6</c:v>
                </c:pt>
              </c:numCache>
            </c:numRef>
          </c:val>
        </c:ser>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mn-lt"/>
              </a:defRPr>
            </a:pPr>
            <a:r>
              <a:rPr sz="1200" b="0" i="0" u="none" strike="noStrike">
                <a:solidFill>
                  <a:srgbClr val="0B1F33"/>
                </a:solidFill>
                <a:latin typeface="+mn-lt"/>
              </a:rPr>
              <a:t>Appointments by status</a:t>
            </a:r>
          </a:p>
        </c:rich>
      </c:tx>
      <c:layout/>
      <c:overlay val="0"/>
    </c:title>
    <c:autoTitleDeleted val="0"/>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0F766E"/>
              </a:solidFill>
              <a:effectLst/>
            </c:spPr>
          </c:dPt>
          <c:dPt>
            <c:idx val="1"/>
            <c:bubble3D val="0"/>
            <c:spPr>
              <a:solidFill>
                <a:srgbClr val="F2545B"/>
              </a:solidFill>
              <a:effectLst/>
            </c:spPr>
          </c:dPt>
          <c:dPt>
            <c:idx val="2"/>
            <c:bubble3D val="0"/>
            <c:spPr>
              <a:solidFill>
                <a:srgbClr val="F6A623"/>
              </a:solidFill>
              <a:effectLst/>
            </c:spPr>
          </c:dPt>
          <c:dPt>
            <c:idx val="3"/>
            <c:bubble3D val="0"/>
            <c:spPr>
              <a:solidFill>
                <a:srgbClr val="2B6CB0"/>
              </a:solidFill>
              <a:effectLst/>
            </c:spPr>
          </c:dPt>
          <c:dLbls>
            <c:dLbl>
              <c:idx val="0"/>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Completed</c:v>
                </c:pt>
                <c:pt idx="1">
                  <c:v>Cancelled</c:v>
                </c:pt>
                <c:pt idx="2">
                  <c:v>No Show</c:v>
                </c:pt>
                <c:pt idx="3">
                  <c:v>Scheduled</c:v>
                </c:pt>
              </c:strCache>
            </c:strRef>
          </c:cat>
          <c:val>
            <c:numRef>
              <c:f>Sheet1!$B$2:$B$5</c:f>
              <c:numCache>
                <c:ptCount val="4"/>
                <c:pt idx="0">
                  <c:v>2189</c:v>
                </c:pt>
                <c:pt idx="1">
                  <c:v>336</c:v>
                </c:pt>
                <c:pt idx="2">
                  <c:v>253</c:v>
                </c:pt>
                <c:pt idx="3">
                  <c:v>222</c:v>
                </c:pt>
              </c:numCache>
            </c:numRef>
          </c:val>
        </c:ser>
        <c:firstSliceAng val="0"/>
        <c:holeSize val="55"/>
      </c:doughnutChart>
      <c:spPr>
        <a:noFill/>
        <a:ln>
          <a:noFill/>
        </a:ln>
        <a:effectLst/>
      </c:spPr>
    </c:plotArea>
    <c:legend>
      <c:legendPos val="b"/>
      <c:overlay val="0"/>
      <c:txPr>
        <a:bodyPr/>
        <a:lstStyle/>
        <a:p>
          <a:pPr>
            <a:defRPr sz="1000">
              <a:solidFill>
                <a:srgbClr val="5B6B7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mn-lt"/>
              </a:defRPr>
            </a:pPr>
            <a:r>
              <a:rPr sz="1200" b="0" i="0" u="none" strike="noStrike">
                <a:solidFill>
                  <a:srgbClr val="0B1F33"/>
                </a:solidFill>
                <a:latin typeface="+mn-lt"/>
              </a:rPr>
              <a:t>Top 10 doctors by revenue (₹ thousand)</a:t>
            </a:r>
          </a:p>
        </c:rich>
      </c:tx>
      <c:layout/>
      <c:overlay val="0"/>
    </c:title>
    <c:autoTitleDeleted val="0"/>
    <c:plotArea>
      <c:layout/>
      <c:barChart>
        <c:barDir val="bar"/>
        <c:grouping val="clustered"/>
        <c:varyColors val="0"/>
        <c:ser>
          <c:idx val="0"/>
          <c:order val="0"/>
          <c:tx>
            <c:strRef>
              <c:f>Sheet1!$B$1</c:f>
              <c:strCache>
                <c:ptCount val="1"/>
                <c:pt idx="0">
                  <c:v>Top 10 doctors by revenue (₹ thousand)</c:v>
                </c:pt>
              </c:strCache>
            </c:strRef>
          </c:tx>
          <c:spPr>
            <a:solidFill>
              <a:srgbClr val="0F766E"/>
            </a:solidFill>
            <a:effectLst/>
          </c:spPr>
          <c:invertIfNegative val="0"/>
          <c:dLbls>
            <c:numFmt formatCode="0.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cat>
            <c:multiLvlStrRef>
              <c:f>Sheet1!$A$2:$A$11</c:f>
              <c:multiLvlStrCache>
                <c:ptCount val="10"/>
                <c:lvl>
                  <c:pt idx="0">
                    <c:v>Dr. Naveen Mathew</c:v>
                  </c:pt>
                  <c:pt idx="1">
                    <c:v>Dr. Vaibhav Patel</c:v>
                  </c:pt>
                  <c:pt idx="2">
                    <c:v>Dr. Prabhu V. Natarajan</c:v>
                  </c:pt>
                  <c:pt idx="3">
                    <c:v>Dr. Tejinder Mehra</c:v>
                  </c:pt>
                  <c:pt idx="4">
                    <c:v>Dr. Tejinder Gupta</c:v>
                  </c:pt>
                  <c:pt idx="5">
                    <c:v>Dr. Teja Warrier</c:v>
                  </c:pt>
                  <c:pt idx="6">
                    <c:v>Dr. Sagar Deshmukh</c:v>
                  </c:pt>
                  <c:pt idx="7">
                    <c:v>Dr. Ashwin P. Lakshmanan</c:v>
                  </c:pt>
                  <c:pt idx="8">
                    <c:v>Dr. Seema N. Pawar</c:v>
                  </c:pt>
                  <c:pt idx="9">
                    <c:v>Dr. Jignesh Pawar</c:v>
                  </c:pt>
                </c:lvl>
              </c:multiLvlStrCache>
            </c:multiLvlStrRef>
          </c:cat>
          <c:val>
            <c:numRef>
              <c:f>Sheet1!$B$2:$B$11</c:f>
              <c:numCache>
                <c:formatCode>General</c:formatCode>
                <c:ptCount val="10"/>
                <c:pt idx="0">
                  <c:v>28.7</c:v>
                </c:pt>
                <c:pt idx="1">
                  <c:v>28</c:v>
                </c:pt>
                <c:pt idx="2">
                  <c:v>27.2</c:v>
                </c:pt>
                <c:pt idx="3">
                  <c:v>25.85</c:v>
                </c:pt>
                <c:pt idx="4">
                  <c:v>24.75</c:v>
                </c:pt>
                <c:pt idx="5">
                  <c:v>24.5</c:v>
                </c:pt>
                <c:pt idx="6">
                  <c:v>23.4</c:v>
                </c:pt>
                <c:pt idx="7">
                  <c:v>22.5</c:v>
                </c:pt>
                <c:pt idx="8">
                  <c:v>21.45</c:v>
                </c:pt>
                <c:pt idx="9">
                  <c:v>21.15</c:v>
                </c:pt>
              </c:numCache>
            </c:numRef>
          </c:val>
        </c:ser>
        <c:dLbls>
          <c:numFmt formatCode="0.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mn-lt"/>
              </a:defRPr>
            </a:pPr>
            <a:r>
              <a:rPr sz="1200" b="0" i="0" u="none" strike="noStrike">
                <a:solidFill>
                  <a:srgbClr val="0B1F33"/>
                </a:solidFill>
                <a:latin typeface="+mn-lt"/>
              </a:rPr>
              <a:t>Appointments by patient state</a:t>
            </a:r>
          </a:p>
        </c:rich>
      </c:tx>
      <c:layout/>
      <c:overlay val="0"/>
    </c:title>
    <c:autoTitleDeleted val="0"/>
    <c:plotArea>
      <c:layout/>
      <c:barChart>
        <c:barDir val="bar"/>
        <c:grouping val="clustered"/>
        <c:varyColors val="0"/>
        <c:ser>
          <c:idx val="0"/>
          <c:order val="0"/>
          <c:tx>
            <c:strRef>
              <c:f>Sheet1!$B$1</c:f>
              <c:strCache>
                <c:ptCount val="1"/>
                <c:pt idx="0">
                  <c:v>Appointments by patient state</c:v>
                </c:pt>
              </c:strCache>
            </c:strRef>
          </c:tx>
          <c:spPr>
            <a:solidFill>
              <a:srgbClr val="2B6CB0"/>
            </a:solidFill>
            <a:effectLst/>
          </c:spPr>
          <c:invertIfNegative val="0"/>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cat>
            <c:multiLvlStrRef>
              <c:f>Sheet1!$A$2:$A$9</c:f>
              <c:multiLvlStrCache>
                <c:ptCount val="8"/>
                <c:lvl>
                  <c:pt idx="0">
                    <c:v>Maharashtra</c:v>
                  </c:pt>
                  <c:pt idx="1">
                    <c:v>Telangana</c:v>
                  </c:pt>
                  <c:pt idx="2">
                    <c:v>Tamil Nadu</c:v>
                  </c:pt>
                  <c:pt idx="3">
                    <c:v>Karnataka</c:v>
                  </c:pt>
                  <c:pt idx="4">
                    <c:v>Delhi</c:v>
                  </c:pt>
                  <c:pt idx="5">
                    <c:v>West Bengal</c:v>
                  </c:pt>
                  <c:pt idx="6">
                    <c:v>Gujarat</c:v>
                  </c:pt>
                  <c:pt idx="7">
                    <c:v>Uttar Pradesh</c:v>
                  </c:pt>
                </c:lvl>
              </c:multiLvlStrCache>
            </c:multiLvlStrRef>
          </c:cat>
          <c:val>
            <c:numRef>
              <c:f>Sheet1!$B$2:$B$9</c:f>
              <c:numCache>
                <c:formatCode>General</c:formatCode>
                <c:ptCount val="8"/>
                <c:pt idx="0">
                  <c:v>614</c:v>
                </c:pt>
                <c:pt idx="1">
                  <c:v>335</c:v>
                </c:pt>
                <c:pt idx="2">
                  <c:v>331</c:v>
                </c:pt>
                <c:pt idx="3">
                  <c:v>278</c:v>
                </c:pt>
                <c:pt idx="4">
                  <c:v>271</c:v>
                </c:pt>
                <c:pt idx="5">
                  <c:v>250</c:v>
                </c:pt>
                <c:pt idx="6">
                  <c:v>172</c:v>
                </c:pt>
                <c:pt idx="7">
                  <c:v>154</c:v>
                </c:pt>
              </c:numCache>
            </c:numRef>
          </c:val>
        </c:ser>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mn-lt"/>
              </a:defRPr>
            </a:pPr>
            <a:r>
              <a:rPr sz="1200" b="0" i="0" u="none" strike="noStrike">
                <a:solidFill>
                  <a:srgbClr val="0B1F33"/>
                </a:solidFill>
                <a:latin typeface="+mn-lt"/>
              </a:rPr>
              <a:t>Appointments by patient type</a:t>
            </a:r>
          </a:p>
        </c:rich>
      </c:tx>
      <c:layout/>
      <c:overlay val="0"/>
    </c:title>
    <c:autoTitleDeleted val="0"/>
    <c:plotArea>
      <c:layout/>
      <c:doughnutChart>
        <c:varyColors val="1"/>
        <c:ser>
          <c:idx val="0"/>
          <c:order val="0"/>
          <c:tx>
            <c:strRef>
              <c:f>Sheet1!$B$1</c:f>
              <c:strCache>
                <c:ptCount val="1"/>
                <c:pt idx="0">
                  <c:v>Patient type</c:v>
                </c:pt>
              </c:strCache>
            </c:strRef>
          </c:tx>
          <c:spPr>
            <a:solidFill>
              <a:schemeClr val="accent1"/>
            </a:solidFill>
            <a:ln w="9525" cap="flat">
              <a:solidFill>
                <a:srgbClr val="F9F9F9"/>
              </a:solidFill>
              <a:prstDash val="solid"/>
              <a:round/>
            </a:ln>
            <a:effectLst/>
          </c:spPr>
          <c:dPt>
            <c:idx val="0"/>
            <c:bubble3D val="0"/>
            <c:spPr>
              <a:solidFill>
                <a:srgbClr val="0F766E"/>
              </a:solidFill>
              <a:effectLst/>
            </c:spPr>
          </c:dPt>
          <c:dPt>
            <c:idx val="1"/>
            <c:bubble3D val="0"/>
            <c:spPr>
              <a:solidFill>
                <a:srgbClr val="F6A623"/>
              </a:solidFill>
              <a:effectLst/>
            </c:spPr>
          </c:dPt>
          <c:dLbls>
            <c:dLbl>
              <c:idx val="0"/>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Returning</c:v>
                </c:pt>
                <c:pt idx="1">
                  <c:v>New</c:v>
                </c:pt>
              </c:strCache>
            </c:strRef>
          </c:cat>
          <c:val>
            <c:numRef>
              <c:f>Sheet1!$B$2:$B$3</c:f>
              <c:numCache>
                <c:ptCount val="2"/>
                <c:pt idx="0">
                  <c:v>2467</c:v>
                </c:pt>
                <c:pt idx="1">
                  <c:v>533</c:v>
                </c:pt>
              </c:numCache>
            </c:numRef>
          </c:val>
        </c:ser>
        <c:firstSliceAng val="0"/>
        <c:holeSize val="55"/>
      </c:doughnutChart>
      <c:spPr>
        <a:noFill/>
        <a:ln>
          <a:noFill/>
        </a:ln>
        <a:effectLst/>
      </c:spPr>
    </c:plotArea>
    <c:legend>
      <c:legendPos val="r"/>
      <c:overlay val="0"/>
      <c:txPr>
        <a:bodyPr/>
        <a:lstStyle/>
        <a:p>
          <a:pPr>
            <a:defRPr sz="1000">
              <a:solidFill>
                <a:srgbClr val="5B6B7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mn-lt"/>
              </a:defRPr>
            </a:pPr>
            <a:r>
              <a:rPr sz="1200" b="0" i="0" u="none" strike="noStrike">
                <a:solidFill>
                  <a:srgbClr val="0B1F33"/>
                </a:solidFill>
                <a:latin typeface="+mn-lt"/>
              </a:rPr>
              <a:t>Revenue by insurance provider (₹ thousand)</a:t>
            </a:r>
          </a:p>
        </c:rich>
      </c:tx>
      <c:layout/>
      <c:overlay val="0"/>
    </c:title>
    <c:autoTitleDeleted val="0"/>
    <c:plotArea>
      <c:layout/>
      <c:barChart>
        <c:barDir val="bar"/>
        <c:grouping val="clustered"/>
        <c:varyColors val="0"/>
        <c:ser>
          <c:idx val="0"/>
          <c:order val="0"/>
          <c:tx>
            <c:strRef>
              <c:f>Sheet1!$B$1</c:f>
              <c:strCache>
                <c:ptCount val="1"/>
                <c:pt idx="0">
                  <c:v>Revenue by insurance provider (₹ thousand)</c:v>
                </c:pt>
              </c:strCache>
            </c:strRef>
          </c:tx>
          <c:spPr>
            <a:solidFill>
              <a:srgbClr val="7C5CBF"/>
            </a:solidFill>
            <a:effectLst/>
          </c:spPr>
          <c:invertIfNegative val="0"/>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cat>
            <c:multiLvlStrRef>
              <c:f>Sheet1!$A$2:$A$10</c:f>
              <c:multiLvlStrCache>
                <c:ptCount val="9"/>
                <c:lvl>
                  <c:pt idx="0">
                    <c:v>Self Pay</c:v>
                  </c:pt>
                  <c:pt idx="1">
                    <c:v>Star Health</c:v>
                  </c:pt>
                  <c:pt idx="2">
                    <c:v>HDFC ERGO</c:v>
                  </c:pt>
                  <c:pt idx="3">
                    <c:v>Government Scheme</c:v>
                  </c:pt>
                  <c:pt idx="4">
                    <c:v>Care Health</c:v>
                  </c:pt>
                  <c:pt idx="5">
                    <c:v>ICICI Lombard</c:v>
                  </c:pt>
                  <c:pt idx="6">
                    <c:v>Niva Bupa</c:v>
                  </c:pt>
                  <c:pt idx="7">
                    <c:v>Tata AIG</c:v>
                  </c:pt>
                  <c:pt idx="8">
                    <c:v>Bajaj Allianz</c:v>
                  </c:pt>
                </c:lvl>
              </c:multiLvlStrCache>
            </c:multiLvlStrRef>
          </c:cat>
          <c:val>
            <c:numRef>
              <c:f>Sheet1!$B$2:$B$10</c:f>
              <c:numCache>
                <c:formatCode>General</c:formatCode>
                <c:ptCount val="9"/>
                <c:pt idx="0">
                  <c:v>840.45</c:v>
                </c:pt>
                <c:pt idx="1">
                  <c:v>278.35</c:v>
                </c:pt>
                <c:pt idx="2">
                  <c:v>271.4</c:v>
                </c:pt>
                <c:pt idx="3">
                  <c:v>248.6</c:v>
                </c:pt>
                <c:pt idx="4">
                  <c:v>239.75</c:v>
                </c:pt>
                <c:pt idx="5">
                  <c:v>238.7</c:v>
                </c:pt>
                <c:pt idx="6">
                  <c:v>215.05</c:v>
                </c:pt>
                <c:pt idx="7">
                  <c:v>126.95</c:v>
                </c:pt>
                <c:pt idx="8">
                  <c:v>89.4</c:v>
                </c:pt>
              </c:numCache>
            </c:numRef>
          </c:val>
        </c:ser>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the project and the business domain. One sentence: this is a two-page Power BI dashboard that helps a hospital network track appointments, revenue and lost bookings. Mention the tools: Excel as the source, Power Query to load, a star-schema model, and DAX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four things: the business, the purpose of the dashboard, who uses it, and why analysis matters. Medvista is a synthetic hospital network modelled on Indian multi-city hospital groups: 27 branches, 10 departments, 500 doctors, 1,500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file: Healthcare_Analytics_Dataset.xlsx with three sheets, loaded through Power Query. Explain each table in a sentence: Appointments is the fact table (one row per booking), Doctors and Patients describe who and where, DimDate is the calendar. The data is synthetic, built to resemble an Indian hospital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load from Excel with Power Query, build the date table, link the fact table to the dimensions, then write DAX measures. The relationships are many-to-one with single-direction filtering, so slicers on Doctors, Patients and DimDate filter Appointments.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problem the data revealed. Lost bookings: 336 cancelled plus 253 no-shows, about 589 closed appointments, at the 1,164 average fee is roughly 6.9 lakh rupees of potential revenue (an estimate, not booked revenue). Cancellation rates by department: ENT 16.6%, Pediatrics 16.1%, General Medicine 14.0%. Top three departments by revenue: Orthopedics, General Medicine, Cardiology.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to stress: Total Revenue counts only Completed appointments, and the two loss rates divide by Closed appointments (total minus scheduled), so future bookings do not distort the percentages. Average Consultation Fee is revenue per completed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pages with the same header and slicers so users never relearn the layout. Page 1 is for leadership: slicers for Year, Department, Branch and Status, six KPI cards, two trend charts and three breakdown charts. Page 2 digs into doctors and patients with three KPI cards and four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cards left to right. 73% of bookings complete. Only completed visits earn revenue: 25.49 lakh rupees in total at an average fee of 1,164. Lost bookings: 253 no-shows (9.1%) and 336 cancellations (12.1%) of 2,778 closed appointments. Decision: set reduction targets for both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chart from page 1: appointments by month with one line per year. Volume grew from 646 in 2024 to 934 in 2025 and 1,420 in 2026, about 45% then 52%. The dip at the end of 2026 happens because future slots are not fully booked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chart from page 1: revenue by year-month. Annual revenue: 5.9 lakh in 2024, 8.8 lakh in 2025, 10.8 lakh in 2026. Revenue growth in 2026 (+23%) is lower than volume growth (+52%) because 222 scheduled visits earn nothing until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department visuals from page 1. General Medicine has the most visits (708) but a low average fee (696). Orthopedics earns the most (4.5 lakh from 424 visits). Cardiology and Neurology have the highest fees (about 1,646 and 1,639).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Donut chart from page 1. Completed 2,189 (73%), Cancelled 336 (11.2%), No Show 253 (8.4%), Scheduled 222 (7.4%). The loss rates on the KPI cards use closed appointments as the base, which is why they show 12.1% and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shows three KPI cards and revenue by doctor. Average doctor rating is 4.23 across 500 doctors, 456 doctors had appointments, and all 1,500 patients were served. The top 10 doctors bring only about 9.7% of revenue, so income is not dependent on a few people. Top earner: Dr. Naveen Mathew (Neurology), 28,700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appointments by patient state and the New versus Returning split. Maharashtra has 614 appointments (20%), followed by Telangana 335 and Tamil Nadu 331. Returning patients account for 2,467 appointments (82%) and new patients 533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bar chart: revenue from completed visits by the patient's insurance provider. Self Pay is largest at 8.4 lakh (33%). Star Health 2.8 lakh, HDFC ERGO 2.7 lakh, Government Scheme 2.5 lakh. Smallest: Bajaj Allianz 0.9 lakh and Tata AIG 1.3 lakh.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five points. Each one links to a visual shown earlier. Keep the numbers handy: 3,000 appointments, 73% completed, 21.2% lost, 33% self pay, 44% from top three departments, 82% returning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actions. For the reminder programme, a 1-point reduction in either loss rate recovers about 28 visits, roughly 32 thousand rupees at the average fee: an illustration, not a forecast. Branch no-show rates range from 3.9% (Chennai Adyar) to 13.5% (Chennai Velachery), a useful drill-down using the Branch slicer.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outcome: a clear, interactive view that turns 3,000 bookings into decisions. Be upfront about limitations: synthetic data, revenue counts consultation fees of completed visits only, and 2026 includes future scheduled appointments. Next steps show you are thinking beyond the first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Likely questions: why a star schema, how No Show Rate is calculated, why revenue counts only completed visits, and what you would build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800600"/>
            <a:ext cx="5943600" cy="228600"/>
          </a:xfrm>
          <a:prstGeom prst="rect">
            <a:avLst/>
          </a:prstGeom>
          <a:noFill/>
          <a:ln/>
        </p:spPr>
        <p:txBody>
          <a:bodyPr wrap="square" lIns="0" tIns="0" rIns="0" bIns="0" rtlCol="0" anchor="ctr"/>
          <a:lstStyle/>
          <a:p>
            <a:pPr indent="0" marL="0">
              <a:buNone/>
            </a:pPr>
            <a:r>
              <a:rPr lang="en-US" sz="1000" dirty="0">
                <a:solidFill>
                  <a:schemeClr val="tx2"/>
                </a:solidFill>
              </a:rPr>
              <a:t>Healthcare Appointment &amp; Revenue Analytics  |  Medvista Hospitals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edical cross large"/>
          <p:cNvSpPr/>
          <p:nvPr/>
        </p:nvSpPr>
        <p:spPr>
          <a:xfrm>
            <a:off x="6400800" y="-548640"/>
            <a:ext cx="3291840" cy="3291840"/>
          </a:xfrm>
          <a:prstGeom prst="mathPlus">
            <a:avLst/>
          </a:prstGeom>
          <a:solidFill>
            <a:schemeClr val="accent1">
              <a:alpha val="65000"/>
            </a:schemeClr>
          </a:solidFill>
          <a:ln/>
        </p:spPr>
      </p:sp>
      <p:sp>
        <p:nvSpPr>
          <p:cNvPr id="3" name="Medical cross small"/>
          <p:cNvSpPr/>
          <p:nvPr/>
        </p:nvSpPr>
        <p:spPr>
          <a:xfrm>
            <a:off x="7863840" y="2651760"/>
            <a:ext cx="1737360" cy="1737360"/>
          </a:xfrm>
          <a:prstGeom prst="mathPlus">
            <a:avLst/>
          </a:prstGeom>
          <a:solidFill>
            <a:schemeClr val="accent2">
              <a:alpha val="80000"/>
            </a:schemeClr>
          </a:solidFill>
          <a:ln/>
        </p:spPr>
      </p:sp>
      <p:sp>
        <p:nvSpPr>
          <p:cNvPr id="4" name="Heartbeat line"/>
          <p:cNvSpPr/>
          <p:nvPr/>
        </p:nvSpPr>
        <p:spPr>
          <a:xfrm>
            <a:off x="548640" y="4297680"/>
            <a:ext cx="5669280" cy="640080"/>
          </a:xfrm>
          <a:custGeom>
            <a:avLst/>
            <a:gdLst/>
            <a:ahLst/>
            <a:cxnLst/>
            <a:rect l="l" t="t" r="r" b="b"/>
            <a:pathLst>
              <a:path w="5669280" h="640080">
                <a:moveTo>
                  <a:pt x="0" y="320040"/>
                </a:moveTo>
                <a:lnTo>
                  <a:pt x="1645920" y="320040"/>
                </a:lnTo>
                <a:lnTo>
                  <a:pt x="1920240" y="320040"/>
                </a:lnTo>
                <a:lnTo>
                  <a:pt x="2148840" y="45720"/>
                </a:lnTo>
                <a:lnTo>
                  <a:pt x="2423160" y="594360"/>
                </a:lnTo>
                <a:lnTo>
                  <a:pt x="2651760" y="137160"/>
                </a:lnTo>
                <a:lnTo>
                  <a:pt x="2834640" y="320040"/>
                </a:lnTo>
                <a:lnTo>
                  <a:pt x="5669280" y="320040"/>
                </a:lnTo>
              </a:path>
            </a:pathLst>
          </a:custGeom>
          <a:ln w="25400">
            <a:solidFill>
              <a:srgbClr val="14B8A6"/>
            </a:solidFill>
            <a:prstDash val="solid"/>
          </a:ln>
        </p:spPr>
      </p:sp>
      <p:sp>
        <p:nvSpPr>
          <p:cNvPr id="5" name="Text 3"/>
          <p:cNvSpPr txBox="1"/>
          <p:nvPr/>
        </p:nvSpPr>
        <p:spPr>
          <a:xfrm>
            <a:off x="548640" y="640080"/>
            <a:ext cx="6400800"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HEALTHCARE ANALYTICS  |  POWER BI DASHBOARD</a:t>
            </a:r>
            <a:endParaRPr lang="en-US" sz="1200" dirty="0"/>
          </a:p>
        </p:txBody>
      </p:sp>
      <p:sp>
        <p:nvSpPr>
          <p:cNvPr id="6" name="Text 4"/>
          <p:cNvSpPr txBox="1"/>
          <p:nvPr/>
        </p:nvSpPr>
        <p:spPr>
          <a:xfrm>
            <a:off x="548640" y="960120"/>
            <a:ext cx="6035040" cy="155448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Healthcare Appointment &amp; Revenue Analytics Dashboard</a:t>
            </a:r>
            <a:endParaRPr lang="en-US" sz="3400" dirty="0"/>
          </a:p>
        </p:txBody>
      </p:sp>
      <p:sp>
        <p:nvSpPr>
          <p:cNvPr id="7" name="Text 5"/>
          <p:cNvSpPr txBox="1"/>
          <p:nvPr/>
        </p:nvSpPr>
        <p:spPr>
          <a:xfrm>
            <a:off x="548640" y="2697480"/>
            <a:ext cx="5760720" cy="594360"/>
          </a:xfrm>
          <a:prstGeom prst="rect">
            <a:avLst/>
          </a:prstGeom>
          <a:noFill/>
          <a:ln/>
        </p:spPr>
        <p:txBody>
          <a:bodyPr wrap="square" lIns="0" tIns="0" rIns="0" bIns="0" rtlCol="0" anchor="t"/>
          <a:lstStyle/>
          <a:p>
            <a:pPr indent="0" marL="0">
              <a:buNone/>
            </a:pPr>
            <a:r>
              <a:rPr lang="en-US" sz="1600" dirty="0">
                <a:solidFill>
                  <a:schemeClr val="bg2"/>
                </a:solidFill>
              </a:rPr>
              <a:t>Business domain: Hospital operations and revenue management (Medvista Hospitals, India)</a:t>
            </a:r>
            <a:endParaRPr lang="en-US" sz="1600" dirty="0"/>
          </a:p>
        </p:txBody>
      </p:sp>
      <p:sp>
        <p:nvSpPr>
          <p:cNvPr id="8" name="Text 6"/>
          <p:cNvSpPr txBox="1"/>
          <p:nvPr/>
        </p:nvSpPr>
        <p:spPr>
          <a:xfrm>
            <a:off x="548640" y="3429000"/>
            <a:ext cx="5486400" cy="320040"/>
          </a:xfrm>
          <a:prstGeom prst="rect">
            <a:avLst/>
          </a:prstGeom>
          <a:noFill/>
          <a:ln/>
        </p:spPr>
        <p:txBody>
          <a:bodyPr wrap="square" lIns="0" tIns="0" rIns="0" bIns="0" rtlCol="0" anchor="t"/>
          <a:lstStyle/>
          <a:p>
            <a:pPr indent="0" marL="0">
              <a:buNone/>
            </a:pPr>
            <a:r>
              <a:rPr lang="en-US" sz="1600" dirty="0">
                <a:solidFill>
                  <a:schemeClr val="bg2"/>
                </a:solidFill>
              </a:rPr>
              <a:t>Presented by: </a:t>
            </a:r>
            <a:pPr indent="0" marL="0">
              <a:buNone/>
            </a:pPr>
            <a:r>
              <a:rPr lang="en-US" sz="1600" b="1" dirty="0">
                <a:solidFill>
                  <a:schemeClr val="bg1"/>
                </a:solidFill>
              </a:rPr>
              <a:t>Siddhant Chikate</a:t>
            </a:r>
            <a:endParaRPr lang="en-US" sz="1600" dirty="0"/>
          </a:p>
        </p:txBody>
      </p:sp>
      <p:sp>
        <p:nvSpPr>
          <p:cNvPr id="9" name="Text 7"/>
          <p:cNvSpPr txBox="1"/>
          <p:nvPr/>
        </p:nvSpPr>
        <p:spPr>
          <a:xfrm>
            <a:off x="548640" y="3767328"/>
            <a:ext cx="5760720" cy="274320"/>
          </a:xfrm>
          <a:prstGeom prst="rect">
            <a:avLst/>
          </a:prstGeom>
          <a:noFill/>
          <a:ln/>
        </p:spPr>
        <p:txBody>
          <a:bodyPr wrap="square" lIns="0" tIns="0" rIns="0" bIns="0" rtlCol="0" anchor="t"/>
          <a:lstStyle/>
          <a:p>
            <a:pPr indent="0" marL="0">
              <a:buNone/>
            </a:pPr>
            <a:r>
              <a:rPr lang="en-US" sz="1400" dirty="0">
                <a:solidFill>
                  <a:schemeClr val="bg2"/>
                </a:solidFill>
              </a:rPr>
              <a:t>Tools: Power BI  |  Power Query  |  DAX  |  Excel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Project overview</a:t>
            </a:r>
            <a:endParaRPr lang="en-US" sz="2800" dirty="0"/>
          </a:p>
        </p:txBody>
      </p:sp>
      <p:sp>
        <p:nvSpPr>
          <p:cNvPr id="4" name="Overview card 1"/>
          <p:cNvSpPr/>
          <p:nvPr/>
        </p:nvSpPr>
        <p:spPr>
          <a:xfrm>
            <a:off x="457200" y="1234440"/>
            <a:ext cx="4023360" cy="1600200"/>
          </a:xfrm>
          <a:prstGeom prst="roundRect">
            <a:avLst>
              <a:gd name="adj" fmla="val 5714"/>
            </a:avLst>
          </a:prstGeom>
          <a:solidFill>
            <a:schemeClr val="bg2"/>
          </a:solidFill>
          <a:ln/>
        </p:spPr>
      </p:sp>
      <p:sp>
        <p:nvSpPr>
          <p:cNvPr id="5" name="Overview dot 1"/>
          <p:cNvSpPr/>
          <p:nvPr/>
        </p:nvSpPr>
        <p:spPr>
          <a:xfrm>
            <a:off x="640080" y="1417320"/>
            <a:ext cx="292608" cy="292608"/>
          </a:xfrm>
          <a:prstGeom prst="ellipse">
            <a:avLst/>
          </a:prstGeom>
          <a:solidFill>
            <a:schemeClr val="accent1"/>
          </a:solidFill>
          <a:ln/>
        </p:spPr>
      </p:sp>
      <p:sp>
        <p:nvSpPr>
          <p:cNvPr id="6" name="Text 3"/>
          <p:cNvSpPr txBox="1"/>
          <p:nvPr/>
        </p:nvSpPr>
        <p:spPr>
          <a:xfrm>
            <a:off x="1051560" y="1389888"/>
            <a:ext cx="3200400" cy="347472"/>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The business</a:t>
            </a:r>
            <a:endParaRPr lang="en-US" sz="1800" dirty="0"/>
          </a:p>
        </p:txBody>
      </p:sp>
      <p:sp>
        <p:nvSpPr>
          <p:cNvPr id="7" name="Text 4"/>
          <p:cNvSpPr txBox="1"/>
          <p:nvPr/>
        </p:nvSpPr>
        <p:spPr>
          <a:xfrm>
            <a:off x="640080" y="1874520"/>
            <a:ext cx="3657600" cy="914400"/>
          </a:xfrm>
          <a:prstGeom prst="rect">
            <a:avLst/>
          </a:prstGeom>
          <a:noFill/>
          <a:ln/>
        </p:spPr>
        <p:txBody>
          <a:bodyPr wrap="square" lIns="0" tIns="0" rIns="0" bIns="0" rtlCol="0" anchor="t"/>
          <a:lstStyle/>
          <a:p>
            <a:pPr indent="0" marL="0">
              <a:buNone/>
            </a:pPr>
            <a:r>
              <a:rPr lang="en-US" sz="1400" dirty="0">
                <a:solidFill>
                  <a:schemeClr val="tx1"/>
                </a:solidFill>
              </a:rPr>
              <a:t>Medvista Hospitals is a multi-city network: 27 branches, 10 departments and 500 doctors serving 1,500 registered patients.</a:t>
            </a:r>
            <a:endParaRPr lang="en-US" sz="1400" dirty="0"/>
          </a:p>
        </p:txBody>
      </p:sp>
      <p:sp>
        <p:nvSpPr>
          <p:cNvPr id="8" name="Overview card 2"/>
          <p:cNvSpPr/>
          <p:nvPr/>
        </p:nvSpPr>
        <p:spPr>
          <a:xfrm>
            <a:off x="4663440" y="1234440"/>
            <a:ext cx="4023360" cy="1600200"/>
          </a:xfrm>
          <a:prstGeom prst="roundRect">
            <a:avLst>
              <a:gd name="adj" fmla="val 5714"/>
            </a:avLst>
          </a:prstGeom>
          <a:solidFill>
            <a:schemeClr val="bg2"/>
          </a:solidFill>
          <a:ln/>
        </p:spPr>
      </p:sp>
      <p:sp>
        <p:nvSpPr>
          <p:cNvPr id="9" name="Overview dot 2"/>
          <p:cNvSpPr/>
          <p:nvPr/>
        </p:nvSpPr>
        <p:spPr>
          <a:xfrm>
            <a:off x="4846320" y="1417320"/>
            <a:ext cx="292608" cy="292608"/>
          </a:xfrm>
          <a:prstGeom prst="ellipse">
            <a:avLst/>
          </a:prstGeom>
          <a:solidFill>
            <a:schemeClr val="accent3"/>
          </a:solidFill>
          <a:ln/>
        </p:spPr>
      </p:sp>
      <p:sp>
        <p:nvSpPr>
          <p:cNvPr id="10" name="Text 7"/>
          <p:cNvSpPr txBox="1"/>
          <p:nvPr/>
        </p:nvSpPr>
        <p:spPr>
          <a:xfrm>
            <a:off x="5257800" y="1389888"/>
            <a:ext cx="3200400" cy="347472"/>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Purpose of the dashboard</a:t>
            </a:r>
            <a:endParaRPr lang="en-US" sz="1800" dirty="0"/>
          </a:p>
        </p:txBody>
      </p:sp>
      <p:sp>
        <p:nvSpPr>
          <p:cNvPr id="11" name="Text 8"/>
          <p:cNvSpPr txBox="1"/>
          <p:nvPr/>
        </p:nvSpPr>
        <p:spPr>
          <a:xfrm>
            <a:off x="4846320" y="1874520"/>
            <a:ext cx="3657600" cy="914400"/>
          </a:xfrm>
          <a:prstGeom prst="rect">
            <a:avLst/>
          </a:prstGeom>
          <a:noFill/>
          <a:ln/>
        </p:spPr>
        <p:txBody>
          <a:bodyPr wrap="square" lIns="0" tIns="0" rIns="0" bIns="0" rtlCol="0" anchor="t"/>
          <a:lstStyle/>
          <a:p>
            <a:pPr indent="0" marL="0">
              <a:buNone/>
            </a:pPr>
            <a:r>
              <a:rPr lang="en-US" sz="1400" dirty="0">
                <a:solidFill>
                  <a:schemeClr val="tx1"/>
                </a:solidFill>
              </a:rPr>
              <a:t>One interactive view of appointments, revenue, no-shows and cancellations by department, branch, doctor and patient group.</a:t>
            </a:r>
            <a:endParaRPr lang="en-US" sz="1400" dirty="0"/>
          </a:p>
        </p:txBody>
      </p:sp>
      <p:sp>
        <p:nvSpPr>
          <p:cNvPr id="12" name="Overview card 3"/>
          <p:cNvSpPr/>
          <p:nvPr/>
        </p:nvSpPr>
        <p:spPr>
          <a:xfrm>
            <a:off x="457200" y="2971800"/>
            <a:ext cx="4023360" cy="1600200"/>
          </a:xfrm>
          <a:prstGeom prst="roundRect">
            <a:avLst>
              <a:gd name="adj" fmla="val 5714"/>
            </a:avLst>
          </a:prstGeom>
          <a:solidFill>
            <a:schemeClr val="bg2"/>
          </a:solidFill>
          <a:ln/>
        </p:spPr>
      </p:sp>
      <p:sp>
        <p:nvSpPr>
          <p:cNvPr id="13" name="Overview dot 3"/>
          <p:cNvSpPr/>
          <p:nvPr/>
        </p:nvSpPr>
        <p:spPr>
          <a:xfrm>
            <a:off x="640080" y="3154680"/>
            <a:ext cx="292608" cy="292608"/>
          </a:xfrm>
          <a:prstGeom prst="ellipse">
            <a:avLst/>
          </a:prstGeom>
          <a:solidFill>
            <a:schemeClr val="accent5"/>
          </a:solidFill>
          <a:ln/>
        </p:spPr>
      </p:sp>
      <p:sp>
        <p:nvSpPr>
          <p:cNvPr id="14" name="Text 11"/>
          <p:cNvSpPr txBox="1"/>
          <p:nvPr/>
        </p:nvSpPr>
        <p:spPr>
          <a:xfrm>
            <a:off x="1051560" y="3127248"/>
            <a:ext cx="3200400" cy="347472"/>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Audience and objectives</a:t>
            </a:r>
            <a:endParaRPr lang="en-US" sz="1800" dirty="0"/>
          </a:p>
        </p:txBody>
      </p:sp>
      <p:sp>
        <p:nvSpPr>
          <p:cNvPr id="15" name="Text 12"/>
          <p:cNvSpPr txBox="1"/>
          <p:nvPr/>
        </p:nvSpPr>
        <p:spPr>
          <a:xfrm>
            <a:off x="640080" y="3611880"/>
            <a:ext cx="3657600" cy="914400"/>
          </a:xfrm>
          <a:prstGeom prst="rect">
            <a:avLst/>
          </a:prstGeom>
          <a:noFill/>
          <a:ln/>
        </p:spPr>
        <p:txBody>
          <a:bodyPr wrap="square" lIns="0" tIns="0" rIns="0" bIns="0" rtlCol="0" anchor="t"/>
          <a:lstStyle/>
          <a:p>
            <a:pPr indent="0" marL="0">
              <a:buNone/>
            </a:pPr>
            <a:r>
              <a:rPr lang="en-US" sz="1400" dirty="0">
                <a:solidFill>
                  <a:schemeClr val="tx1"/>
                </a:solidFill>
              </a:rPr>
              <a:t>Leadership, branch managers and department heads. Objectives: grow completed visits, cut lost bookings, find revenue drivers.</a:t>
            </a:r>
            <a:endParaRPr lang="en-US" sz="1400" dirty="0"/>
          </a:p>
        </p:txBody>
      </p:sp>
      <p:sp>
        <p:nvSpPr>
          <p:cNvPr id="16" name="Overview card 4"/>
          <p:cNvSpPr/>
          <p:nvPr/>
        </p:nvSpPr>
        <p:spPr>
          <a:xfrm>
            <a:off x="4663440" y="2971800"/>
            <a:ext cx="4023360" cy="1600200"/>
          </a:xfrm>
          <a:prstGeom prst="roundRect">
            <a:avLst>
              <a:gd name="adj" fmla="val 5714"/>
            </a:avLst>
          </a:prstGeom>
          <a:solidFill>
            <a:schemeClr val="bg2"/>
          </a:solidFill>
          <a:ln/>
        </p:spPr>
      </p:sp>
      <p:sp>
        <p:nvSpPr>
          <p:cNvPr id="17" name="Overview dot 4"/>
          <p:cNvSpPr/>
          <p:nvPr/>
        </p:nvSpPr>
        <p:spPr>
          <a:xfrm>
            <a:off x="4846320" y="3154680"/>
            <a:ext cx="292608" cy="292608"/>
          </a:xfrm>
          <a:prstGeom prst="ellipse">
            <a:avLst/>
          </a:prstGeom>
          <a:solidFill>
            <a:schemeClr val="accent4"/>
          </a:solidFill>
          <a:ln/>
        </p:spPr>
      </p:sp>
      <p:sp>
        <p:nvSpPr>
          <p:cNvPr id="18" name="Text 15"/>
          <p:cNvSpPr txBox="1"/>
          <p:nvPr/>
        </p:nvSpPr>
        <p:spPr>
          <a:xfrm>
            <a:off x="5257800" y="3127248"/>
            <a:ext cx="3200400" cy="347472"/>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Why analysis matters</a:t>
            </a:r>
            <a:endParaRPr lang="en-US" sz="1800" dirty="0"/>
          </a:p>
        </p:txBody>
      </p:sp>
      <p:sp>
        <p:nvSpPr>
          <p:cNvPr id="19" name="Text 16"/>
          <p:cNvSpPr txBox="1"/>
          <p:nvPr/>
        </p:nvSpPr>
        <p:spPr>
          <a:xfrm>
            <a:off x="4846320" y="3611880"/>
            <a:ext cx="3657600" cy="914400"/>
          </a:xfrm>
          <a:prstGeom prst="rect">
            <a:avLst/>
          </a:prstGeom>
          <a:noFill/>
          <a:ln/>
        </p:spPr>
        <p:txBody>
          <a:bodyPr wrap="square" lIns="0" tIns="0" rIns="0" bIns="0" rtlCol="0" anchor="t"/>
          <a:lstStyle/>
          <a:p>
            <a:pPr indent="0" marL="0">
              <a:buNone/>
            </a:pPr>
            <a:r>
              <a:rPr lang="en-US" sz="1400" dirty="0">
                <a:solidFill>
                  <a:schemeClr val="tx1"/>
                </a:solidFill>
              </a:rPr>
              <a:t>Every cancelled or missed booking is an unused doctor slot. Data shows where, how often and how much revenue is at stake.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Dataset description</a:t>
            </a:r>
            <a:endParaRPr lang="en-US" sz="2800" dirty="0"/>
          </a:p>
        </p:txBody>
      </p:sp>
      <p:sp>
        <p:nvSpPr>
          <p:cNvPr id="4" name="Text 1"/>
          <p:cNvSpPr txBox="1"/>
          <p:nvPr/>
        </p:nvSpPr>
        <p:spPr>
          <a:xfrm>
            <a:off x="457200" y="1051560"/>
            <a:ext cx="8229600" cy="274320"/>
          </a:xfrm>
          <a:prstGeom prst="rect">
            <a:avLst/>
          </a:prstGeom>
          <a:noFill/>
          <a:ln/>
        </p:spPr>
        <p:txBody>
          <a:bodyPr wrap="square" lIns="0" tIns="0" rIns="0" bIns="0" rtlCol="0" anchor="t"/>
          <a:lstStyle/>
          <a:p>
            <a:pPr indent="0" marL="0">
              <a:buNone/>
            </a:pPr>
            <a:r>
              <a:rPr lang="en-US" sz="1400" i="1" dirty="0">
                <a:solidFill>
                  <a:schemeClr val="tx2"/>
                </a:solidFill>
              </a:rPr>
              <a:t>Source: Healthcare_Analytics_Dataset.xlsx (synthetic data, Jan 2024 to Dec 2026), loaded with Power Query</a:t>
            </a:r>
            <a:endParaRPr lang="en-US" sz="1400" dirty="0"/>
          </a:p>
        </p:txBody>
      </p:sp>
      <p:graphicFrame>
        <p:nvGraphicFramePr>
          <p:cNvPr id="4" name="Dataset table"/>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371600"/>
                <a:gridCol w="1005840"/>
                <a:gridCol w="1280160"/>
                <a:gridCol w="4572000"/>
              </a:tblGrid>
              <a:tr h="365760">
                <a:tc>
                  <a:txBody>
                    <a:bodyPr/>
                    <a:lstStyle/>
                    <a:p>
                      <a:pPr indent="0" marL="0">
                        <a:buNone/>
                      </a:pPr>
                      <a:r>
                        <a:rPr lang="en-US" sz="1200" b="1" dirty="0">
                          <a:solidFill>
                            <a:srgbClr val="FFFFFF"/>
                          </a:solidFill>
                        </a:rPr>
                        <a:t>Table</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rPr>
                        <a:t>Role</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rPr>
                        <a:t>Rows x Columns</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rPr>
                        <a:t>What it contains</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F766E"/>
                    </a:solidFill>
                  </a:tcPr>
                </a:tc>
              </a:tr>
              <a:tr h="731520">
                <a:tc>
                  <a:txBody>
                    <a:bodyPr/>
                    <a:lstStyle/>
                    <a:p>
                      <a:pPr indent="0" marL="0">
                        <a:buNone/>
                      </a:pPr>
                      <a:r>
                        <a:rPr lang="en-US" sz="1200" b="1" dirty="0">
                          <a:solidFill>
                            <a:srgbClr val="0B1F33"/>
                          </a:solidFill>
                        </a:rPr>
                        <a:t>Appointments</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Fact</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3,000 x 13</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Date, department, diagnosis, treatment, consultation fee, payment method, status (Completed, Cancelled, No Show, Scheduled), insurance claim, follow-up</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594360">
                <a:tc>
                  <a:txBody>
                    <a:bodyPr/>
                    <a:lstStyle/>
                    <a:p>
                      <a:pPr indent="0" marL="0">
                        <a:buNone/>
                      </a:pPr>
                      <a:r>
                        <a:rPr lang="en-US" sz="1200" b="1" dirty="0">
                          <a:solidFill>
                            <a:srgbClr val="0B1F33"/>
                          </a:solidFill>
                        </a:rPr>
                        <a:t>Doctors</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Dimension</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500 x 11</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Name, specialization, department, experience, fee, hospital branch, city, state, rating</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594360">
                <a:tc>
                  <a:txBody>
                    <a:bodyPr/>
                    <a:lstStyle/>
                    <a:p>
                      <a:pPr indent="0" marL="0">
                        <a:buNone/>
                      </a:pPr>
                      <a:r>
                        <a:rPr lang="en-US" sz="1200" b="1" dirty="0">
                          <a:solidFill>
                            <a:srgbClr val="0B1F33"/>
                          </a:solidFill>
                        </a:rPr>
                        <a:t>Patients</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Dimension</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1,500 x 10</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Name, gender, age, city, state, registration date, patient type (New or Returning), insurance provider</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0B1F33"/>
                          </a:solidFill>
                        </a:rPr>
                        <a:t>DimDate</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Calendar</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1,096 x 6</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One row per day for 2024 to 2026: year, quarter, month, year-month</a:t>
                      </a:r>
                      <a:endParaRPr lang="en-US" sz="1200" dirty="0"/>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Data preparation and model</a:t>
            </a:r>
            <a:endParaRPr lang="en-US" sz="2800" dirty="0"/>
          </a:p>
        </p:txBody>
      </p:sp>
      <p:sp>
        <p:nvSpPr>
          <p:cNvPr id="4" name="Relationship"/>
          <p:cNvSpPr/>
          <p:nvPr/>
        </p:nvSpPr>
        <p:spPr>
          <a:xfrm>
            <a:off x="1828800" y="2011680"/>
            <a:ext cx="365760" cy="91"/>
          </a:xfrm>
          <a:prstGeom prst="line">
            <a:avLst/>
          </a:prstGeom>
          <a:noFill/>
          <a:ln w="31750">
            <a:solidFill>
              <a:srgbClr val="14B8A6"/>
            </a:solidFill>
            <a:prstDash val="solid"/>
          </a:ln>
        </p:spPr>
      </p:sp>
      <p:sp>
        <p:nvSpPr>
          <p:cNvPr id="5" name="Relationship"/>
          <p:cNvSpPr/>
          <p:nvPr/>
        </p:nvSpPr>
        <p:spPr>
          <a:xfrm>
            <a:off x="4023360" y="2011680"/>
            <a:ext cx="365760" cy="91"/>
          </a:xfrm>
          <a:prstGeom prst="line">
            <a:avLst/>
          </a:prstGeom>
          <a:noFill/>
          <a:ln w="31750">
            <a:solidFill>
              <a:srgbClr val="14B8A6"/>
            </a:solidFill>
            <a:prstDash val="solid"/>
          </a:ln>
        </p:spPr>
      </p:sp>
      <p:sp>
        <p:nvSpPr>
          <p:cNvPr id="6" name="Relationship"/>
          <p:cNvSpPr/>
          <p:nvPr/>
        </p:nvSpPr>
        <p:spPr>
          <a:xfrm>
            <a:off x="3108960" y="2697480"/>
            <a:ext cx="91" cy="411480"/>
          </a:xfrm>
          <a:prstGeom prst="line">
            <a:avLst/>
          </a:prstGeom>
          <a:noFill/>
          <a:ln w="31750">
            <a:solidFill>
              <a:srgbClr val="14B8A6"/>
            </a:solidFill>
            <a:prstDash val="solid"/>
          </a:ln>
        </p:spPr>
      </p:sp>
      <p:sp>
        <p:nvSpPr>
          <p:cNvPr id="7" name="Patients"/>
          <p:cNvSpPr/>
          <p:nvPr/>
        </p:nvSpPr>
        <p:spPr>
          <a:xfrm>
            <a:off x="457200" y="1417320"/>
            <a:ext cx="1371600" cy="1280160"/>
          </a:xfrm>
          <a:prstGeom prst="roundRect">
            <a:avLst>
              <a:gd name="adj" fmla="val 7143"/>
            </a:avLst>
          </a:prstGeom>
          <a:solidFill>
            <a:schemeClr val="bg2"/>
          </a:solidFill>
          <a:ln/>
          <a:effectLst>
            <a:outerShdw sx="100000" sy="100000" kx="0" ky="0" algn="bl" rotWithShape="0" blurRad="76200" dist="25400" dir="5400000">
              <a:srgbClr val="000000">
                <a:alpha val="18000"/>
              </a:srgbClr>
            </a:outerShdw>
          </a:effectLst>
        </p:spPr>
      </p:sp>
      <p:sp>
        <p:nvSpPr>
          <p:cNvPr id="8" name="Text 5"/>
          <p:cNvSpPr txBox="1"/>
          <p:nvPr/>
        </p:nvSpPr>
        <p:spPr>
          <a:xfrm>
            <a:off x="457200" y="1508760"/>
            <a:ext cx="1371600" cy="3200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Patients</a:t>
            </a:r>
            <a:endParaRPr lang="en-US" sz="1600" dirty="0"/>
          </a:p>
        </p:txBody>
      </p:sp>
      <p:sp>
        <p:nvSpPr>
          <p:cNvPr id="9" name="Text 6"/>
          <p:cNvSpPr txBox="1"/>
          <p:nvPr/>
        </p:nvSpPr>
        <p:spPr>
          <a:xfrm>
            <a:off x="530352" y="1828800"/>
            <a:ext cx="1225296" cy="822960"/>
          </a:xfrm>
          <a:prstGeom prst="rect">
            <a:avLst/>
          </a:prstGeom>
          <a:noFill/>
          <a:ln/>
        </p:spPr>
        <p:txBody>
          <a:bodyPr wrap="square" lIns="0" tIns="0" rIns="0" bIns="0" rtlCol="0" anchor="t"/>
          <a:lstStyle/>
          <a:p>
            <a:pPr algn="ctr" indent="0" marL="0">
              <a:buNone/>
            </a:pPr>
            <a:r>
              <a:rPr lang="en-US" sz="1200" dirty="0">
                <a:solidFill>
                  <a:schemeClr val="tx1"/>
                </a:solidFill>
              </a:rPr>
              <a:t>1,500 rows</a:t>
            </a:r>
            <a:endParaRPr lang="en-US" sz="1200" dirty="0"/>
          </a:p>
        </p:txBody>
      </p:sp>
      <p:sp>
        <p:nvSpPr>
          <p:cNvPr id="10" name="Doctors"/>
          <p:cNvSpPr/>
          <p:nvPr/>
        </p:nvSpPr>
        <p:spPr>
          <a:xfrm>
            <a:off x="4389120" y="1417320"/>
            <a:ext cx="1371600" cy="1280160"/>
          </a:xfrm>
          <a:prstGeom prst="roundRect">
            <a:avLst>
              <a:gd name="adj" fmla="val 7143"/>
            </a:avLst>
          </a:prstGeom>
          <a:solidFill>
            <a:schemeClr val="bg2"/>
          </a:solidFill>
          <a:ln/>
          <a:effectLst>
            <a:outerShdw sx="100000" sy="100000" kx="0" ky="0" algn="bl" rotWithShape="0" blurRad="76200" dist="25400" dir="5400000">
              <a:srgbClr val="000000">
                <a:alpha val="18000"/>
              </a:srgbClr>
            </a:outerShdw>
          </a:effectLst>
        </p:spPr>
      </p:sp>
      <p:sp>
        <p:nvSpPr>
          <p:cNvPr id="11" name="Text 8"/>
          <p:cNvSpPr txBox="1"/>
          <p:nvPr/>
        </p:nvSpPr>
        <p:spPr>
          <a:xfrm>
            <a:off x="4389120" y="1508760"/>
            <a:ext cx="1371600" cy="3200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Doctors</a:t>
            </a:r>
            <a:endParaRPr lang="en-US" sz="1600" dirty="0"/>
          </a:p>
        </p:txBody>
      </p:sp>
      <p:sp>
        <p:nvSpPr>
          <p:cNvPr id="12" name="Text 9"/>
          <p:cNvSpPr txBox="1"/>
          <p:nvPr/>
        </p:nvSpPr>
        <p:spPr>
          <a:xfrm>
            <a:off x="4462272" y="1828800"/>
            <a:ext cx="1225296" cy="822960"/>
          </a:xfrm>
          <a:prstGeom prst="rect">
            <a:avLst/>
          </a:prstGeom>
          <a:noFill/>
          <a:ln/>
        </p:spPr>
        <p:txBody>
          <a:bodyPr wrap="square" lIns="0" tIns="0" rIns="0" bIns="0" rtlCol="0" anchor="t"/>
          <a:lstStyle/>
          <a:p>
            <a:pPr algn="ctr" indent="0" marL="0">
              <a:buNone/>
            </a:pPr>
            <a:r>
              <a:rPr lang="en-US" sz="1200" dirty="0">
                <a:solidFill>
                  <a:schemeClr val="tx1"/>
                </a:solidFill>
              </a:rPr>
              <a:t>500 rows</a:t>
            </a:r>
            <a:endParaRPr lang="en-US" sz="1200" dirty="0"/>
          </a:p>
        </p:txBody>
      </p:sp>
      <p:sp>
        <p:nvSpPr>
          <p:cNvPr id="13" name="Appointments"/>
          <p:cNvSpPr/>
          <p:nvPr/>
        </p:nvSpPr>
        <p:spPr>
          <a:xfrm>
            <a:off x="2194560" y="1417320"/>
            <a:ext cx="1828800" cy="1280160"/>
          </a:xfrm>
          <a:prstGeom prst="roundRect">
            <a:avLst>
              <a:gd name="adj" fmla="val 7143"/>
            </a:avLst>
          </a:prstGeom>
          <a:solidFill>
            <a:schemeClr val="accent1"/>
          </a:solidFill>
          <a:ln/>
          <a:effectLst>
            <a:outerShdw sx="100000" sy="100000" kx="0" ky="0" algn="bl" rotWithShape="0" blurRad="76200" dist="25400" dir="5400000">
              <a:srgbClr val="000000">
                <a:alpha val="18000"/>
              </a:srgbClr>
            </a:outerShdw>
          </a:effectLst>
        </p:spPr>
      </p:sp>
      <p:sp>
        <p:nvSpPr>
          <p:cNvPr id="14" name="Text 11"/>
          <p:cNvSpPr txBox="1"/>
          <p:nvPr/>
        </p:nvSpPr>
        <p:spPr>
          <a:xfrm>
            <a:off x="2194560" y="1508760"/>
            <a:ext cx="1828800" cy="320040"/>
          </a:xfrm>
          <a:prstGeom prst="rect">
            <a:avLst/>
          </a:prstGeom>
          <a:noFill/>
          <a:ln/>
        </p:spPr>
        <p:txBody>
          <a:bodyPr wrap="square" lIns="0" tIns="0" rIns="0" bIns="0" rtlCol="0" anchor="t"/>
          <a:lstStyle/>
          <a:p>
            <a:pPr algn="ctr" indent="0" marL="0">
              <a:buNone/>
            </a:pPr>
            <a:r>
              <a:rPr lang="en-US" sz="1600" b="1" dirty="0">
                <a:solidFill>
                  <a:schemeClr val="bg1"/>
                </a:solidFill>
                <a:latin typeface="Cambria" pitchFamily="34" charset="0"/>
                <a:ea typeface="Cambria" pitchFamily="34" charset="-122"/>
                <a:cs typeface="Cambria" pitchFamily="34" charset="-120"/>
              </a:rPr>
              <a:t>Appointments</a:t>
            </a:r>
            <a:endParaRPr lang="en-US" sz="1600" dirty="0"/>
          </a:p>
        </p:txBody>
      </p:sp>
      <p:sp>
        <p:nvSpPr>
          <p:cNvPr id="15" name="Text 12"/>
          <p:cNvSpPr txBox="1"/>
          <p:nvPr/>
        </p:nvSpPr>
        <p:spPr>
          <a:xfrm>
            <a:off x="2267712" y="1828800"/>
            <a:ext cx="1682496" cy="822960"/>
          </a:xfrm>
          <a:prstGeom prst="rect">
            <a:avLst/>
          </a:prstGeom>
          <a:noFill/>
          <a:ln/>
        </p:spPr>
        <p:txBody>
          <a:bodyPr wrap="square" lIns="0" tIns="0" rIns="0" bIns="0" rtlCol="0" anchor="t"/>
          <a:lstStyle/>
          <a:p>
            <a:pPr algn="ctr" indent="0" marL="0">
              <a:buNone/>
            </a:pPr>
            <a:r>
              <a:rPr lang="en-US" sz="1200" dirty="0">
                <a:solidFill>
                  <a:schemeClr val="bg1"/>
                </a:solidFill>
              </a:rPr>
              <a:t>Fact table, 3,000 rows</a:t>
            </a:r>
            <a:endParaRPr lang="en-US" sz="1200" dirty="0"/>
          </a:p>
        </p:txBody>
      </p:sp>
      <p:sp>
        <p:nvSpPr>
          <p:cNvPr id="16" name="DimDate"/>
          <p:cNvSpPr/>
          <p:nvPr/>
        </p:nvSpPr>
        <p:spPr>
          <a:xfrm>
            <a:off x="2194560" y="3108960"/>
            <a:ext cx="1828800" cy="914400"/>
          </a:xfrm>
          <a:prstGeom prst="roundRect">
            <a:avLst>
              <a:gd name="adj" fmla="val 10000"/>
            </a:avLst>
          </a:prstGeom>
          <a:solidFill>
            <a:schemeClr val="bg2"/>
          </a:solidFill>
          <a:ln/>
          <a:effectLst>
            <a:outerShdw sx="100000" sy="100000" kx="0" ky="0" algn="bl" rotWithShape="0" blurRad="76200" dist="25400" dir="5400000">
              <a:srgbClr val="000000">
                <a:alpha val="18000"/>
              </a:srgbClr>
            </a:outerShdw>
          </a:effectLst>
        </p:spPr>
      </p:sp>
      <p:sp>
        <p:nvSpPr>
          <p:cNvPr id="17" name="Text 14"/>
          <p:cNvSpPr txBox="1"/>
          <p:nvPr/>
        </p:nvSpPr>
        <p:spPr>
          <a:xfrm>
            <a:off x="2194560" y="3200400"/>
            <a:ext cx="1828800" cy="3200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DimDate</a:t>
            </a:r>
            <a:endParaRPr lang="en-US" sz="1600" dirty="0"/>
          </a:p>
        </p:txBody>
      </p:sp>
      <p:sp>
        <p:nvSpPr>
          <p:cNvPr id="18" name="Text 15"/>
          <p:cNvSpPr txBox="1"/>
          <p:nvPr/>
        </p:nvSpPr>
        <p:spPr>
          <a:xfrm>
            <a:off x="2267712" y="3520440"/>
            <a:ext cx="1682496" cy="457200"/>
          </a:xfrm>
          <a:prstGeom prst="rect">
            <a:avLst/>
          </a:prstGeom>
          <a:noFill/>
          <a:ln/>
        </p:spPr>
        <p:txBody>
          <a:bodyPr wrap="square" lIns="0" tIns="0" rIns="0" bIns="0" rtlCol="0" anchor="t"/>
          <a:lstStyle/>
          <a:p>
            <a:pPr algn="ctr" indent="0" marL="0">
              <a:buNone/>
            </a:pPr>
            <a:r>
              <a:rPr lang="en-US" sz="1200" dirty="0">
                <a:solidFill>
                  <a:schemeClr val="tx1"/>
                </a:solidFill>
              </a:rPr>
              <a:t>1,096 days</a:t>
            </a:r>
            <a:endParaRPr lang="en-US" sz="1200" dirty="0"/>
          </a:p>
        </p:txBody>
      </p:sp>
      <p:sp>
        <p:nvSpPr>
          <p:cNvPr id="19" name="Text 16"/>
          <p:cNvSpPr txBox="1"/>
          <p:nvPr/>
        </p:nvSpPr>
        <p:spPr>
          <a:xfrm>
            <a:off x="457200" y="4297680"/>
            <a:ext cx="2926080" cy="274320"/>
          </a:xfrm>
          <a:prstGeom prst="rect">
            <a:avLst/>
          </a:prstGeom>
          <a:noFill/>
          <a:ln/>
        </p:spPr>
        <p:txBody>
          <a:bodyPr wrap="square" lIns="0" tIns="0" rIns="0" bIns="0" rtlCol="0" anchor="t"/>
          <a:lstStyle/>
          <a:p>
            <a:pPr indent="0" marL="0">
              <a:buNone/>
            </a:pPr>
            <a:r>
              <a:rPr lang="en-US" sz="1200" i="1" dirty="0">
                <a:solidFill>
                  <a:schemeClr val="tx2"/>
                </a:solidFill>
              </a:rPr>
              <a:t>Many-to-one, single direction</a:t>
            </a:r>
            <a:endParaRPr lang="en-US" sz="1200" dirty="0"/>
          </a:p>
        </p:txBody>
      </p:sp>
      <p:sp>
        <p:nvSpPr>
          <p:cNvPr id="20" name="Step badge 1"/>
          <p:cNvSpPr/>
          <p:nvPr/>
        </p:nvSpPr>
        <p:spPr>
          <a:xfrm>
            <a:off x="6217920" y="1325880"/>
            <a:ext cx="384048" cy="384048"/>
          </a:xfrm>
          <a:prstGeom prst="ellipse">
            <a:avLst/>
          </a:prstGeom>
          <a:solidFill>
            <a:schemeClr val="accent1"/>
          </a:solidFill>
          <a:ln/>
        </p:spPr>
      </p:sp>
      <p:sp>
        <p:nvSpPr>
          <p:cNvPr id="21" name="Text 18"/>
          <p:cNvSpPr txBox="1"/>
          <p:nvPr/>
        </p:nvSpPr>
        <p:spPr>
          <a:xfrm>
            <a:off x="621792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2" name="Text 19"/>
          <p:cNvSpPr txBox="1"/>
          <p:nvPr/>
        </p:nvSpPr>
        <p:spPr>
          <a:xfrm>
            <a:off x="6766560" y="1280160"/>
            <a:ext cx="1920240" cy="502920"/>
          </a:xfrm>
          <a:prstGeom prst="rect">
            <a:avLst/>
          </a:prstGeom>
          <a:noFill/>
          <a:ln/>
        </p:spPr>
        <p:txBody>
          <a:bodyPr wrap="square" lIns="0" tIns="0" rIns="0" bIns="0" rtlCol="0" anchor="ctr"/>
          <a:lstStyle/>
          <a:p>
            <a:pPr indent="0" marL="0">
              <a:buNone/>
            </a:pPr>
            <a:r>
              <a:rPr lang="en-US" sz="1400" dirty="0">
                <a:solidFill>
                  <a:schemeClr val="tx1"/>
                </a:solidFill>
              </a:rPr>
              <a:t>Load three Excel sheets with Power Query</a:t>
            </a:r>
            <a:endParaRPr lang="en-US" sz="1400" dirty="0"/>
          </a:p>
        </p:txBody>
      </p:sp>
      <p:sp>
        <p:nvSpPr>
          <p:cNvPr id="23" name="Step badge 2"/>
          <p:cNvSpPr/>
          <p:nvPr/>
        </p:nvSpPr>
        <p:spPr>
          <a:xfrm>
            <a:off x="6217920" y="1965960"/>
            <a:ext cx="384048" cy="384048"/>
          </a:xfrm>
          <a:prstGeom prst="ellipse">
            <a:avLst/>
          </a:prstGeom>
          <a:solidFill>
            <a:schemeClr val="accent1"/>
          </a:solidFill>
          <a:ln/>
        </p:spPr>
      </p:sp>
      <p:sp>
        <p:nvSpPr>
          <p:cNvPr id="24" name="Text 21"/>
          <p:cNvSpPr txBox="1"/>
          <p:nvPr/>
        </p:nvSpPr>
        <p:spPr>
          <a:xfrm>
            <a:off x="6217920" y="1965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5" name="Text 22"/>
          <p:cNvSpPr txBox="1"/>
          <p:nvPr/>
        </p:nvSpPr>
        <p:spPr>
          <a:xfrm>
            <a:off x="6766560" y="1920240"/>
            <a:ext cx="1920240" cy="502920"/>
          </a:xfrm>
          <a:prstGeom prst="rect">
            <a:avLst/>
          </a:prstGeom>
          <a:noFill/>
          <a:ln/>
        </p:spPr>
        <p:txBody>
          <a:bodyPr wrap="square" lIns="0" tIns="0" rIns="0" bIns="0" rtlCol="0" anchor="ctr"/>
          <a:lstStyle/>
          <a:p>
            <a:pPr indent="0" marL="0">
              <a:buNone/>
            </a:pPr>
            <a:r>
              <a:rPr lang="en-US" sz="1400" dirty="0">
                <a:solidFill>
                  <a:schemeClr val="tx1"/>
                </a:solidFill>
              </a:rPr>
              <a:t>Set data types for dates, fees and IDs</a:t>
            </a:r>
            <a:endParaRPr lang="en-US" sz="1400" dirty="0"/>
          </a:p>
        </p:txBody>
      </p:sp>
      <p:sp>
        <p:nvSpPr>
          <p:cNvPr id="26" name="Step badge 3"/>
          <p:cNvSpPr/>
          <p:nvPr/>
        </p:nvSpPr>
        <p:spPr>
          <a:xfrm>
            <a:off x="6217920" y="2606040"/>
            <a:ext cx="384048" cy="384048"/>
          </a:xfrm>
          <a:prstGeom prst="ellipse">
            <a:avLst/>
          </a:prstGeom>
          <a:solidFill>
            <a:schemeClr val="accent1"/>
          </a:solidFill>
          <a:ln/>
        </p:spPr>
      </p:sp>
      <p:sp>
        <p:nvSpPr>
          <p:cNvPr id="27" name="Text 24"/>
          <p:cNvSpPr txBox="1"/>
          <p:nvPr/>
        </p:nvSpPr>
        <p:spPr>
          <a:xfrm>
            <a:off x="6217920" y="2606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8" name="Text 25"/>
          <p:cNvSpPr txBox="1"/>
          <p:nvPr/>
        </p:nvSpPr>
        <p:spPr>
          <a:xfrm>
            <a:off x="6766560" y="2560320"/>
            <a:ext cx="1920240" cy="502920"/>
          </a:xfrm>
          <a:prstGeom prst="rect">
            <a:avLst/>
          </a:prstGeom>
          <a:noFill/>
          <a:ln/>
        </p:spPr>
        <p:txBody>
          <a:bodyPr wrap="square" lIns="0" tIns="0" rIns="0" bIns="0" rtlCol="0" anchor="ctr"/>
          <a:lstStyle/>
          <a:p>
            <a:pPr indent="0" marL="0">
              <a:buNone/>
            </a:pPr>
            <a:r>
              <a:rPr lang="en-US" sz="1400" dirty="0">
                <a:solidFill>
                  <a:schemeClr val="tx1"/>
                </a:solidFill>
              </a:rPr>
              <a:t>Add DimDate for year, quarter and month analysis</a:t>
            </a:r>
            <a:endParaRPr lang="en-US" sz="1400" dirty="0"/>
          </a:p>
        </p:txBody>
      </p:sp>
      <p:sp>
        <p:nvSpPr>
          <p:cNvPr id="29" name="Step badge 4"/>
          <p:cNvSpPr/>
          <p:nvPr/>
        </p:nvSpPr>
        <p:spPr>
          <a:xfrm>
            <a:off x="6217920" y="3246120"/>
            <a:ext cx="384048" cy="384048"/>
          </a:xfrm>
          <a:prstGeom prst="ellipse">
            <a:avLst/>
          </a:prstGeom>
          <a:solidFill>
            <a:schemeClr val="accent1"/>
          </a:solidFill>
          <a:ln/>
        </p:spPr>
      </p:sp>
      <p:sp>
        <p:nvSpPr>
          <p:cNvPr id="30" name="Text 27"/>
          <p:cNvSpPr txBox="1"/>
          <p:nvPr/>
        </p:nvSpPr>
        <p:spPr>
          <a:xfrm>
            <a:off x="6217920" y="32461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1" name="Text 28"/>
          <p:cNvSpPr txBox="1"/>
          <p:nvPr/>
        </p:nvSpPr>
        <p:spPr>
          <a:xfrm>
            <a:off x="6766560" y="3200400"/>
            <a:ext cx="1920240" cy="502920"/>
          </a:xfrm>
          <a:prstGeom prst="rect">
            <a:avLst/>
          </a:prstGeom>
          <a:noFill/>
          <a:ln/>
        </p:spPr>
        <p:txBody>
          <a:bodyPr wrap="square" lIns="0" tIns="0" rIns="0" bIns="0" rtlCol="0" anchor="ctr"/>
          <a:lstStyle/>
          <a:p>
            <a:pPr indent="0" marL="0">
              <a:buNone/>
            </a:pPr>
            <a:r>
              <a:rPr lang="en-US" sz="1400" dirty="0">
                <a:solidFill>
                  <a:schemeClr val="tx1"/>
                </a:solidFill>
              </a:rPr>
              <a:t>Relate Appointments to Patients and Doctors</a:t>
            </a:r>
            <a:endParaRPr lang="en-US" sz="1400" dirty="0"/>
          </a:p>
        </p:txBody>
      </p:sp>
      <p:sp>
        <p:nvSpPr>
          <p:cNvPr id="32" name="Step badge 5"/>
          <p:cNvSpPr/>
          <p:nvPr/>
        </p:nvSpPr>
        <p:spPr>
          <a:xfrm>
            <a:off x="6217920" y="3886200"/>
            <a:ext cx="384048" cy="384048"/>
          </a:xfrm>
          <a:prstGeom prst="ellipse">
            <a:avLst/>
          </a:prstGeom>
          <a:solidFill>
            <a:schemeClr val="accent1"/>
          </a:solidFill>
          <a:ln/>
        </p:spPr>
      </p:sp>
      <p:sp>
        <p:nvSpPr>
          <p:cNvPr id="33" name="Text 30"/>
          <p:cNvSpPr txBox="1"/>
          <p:nvPr/>
        </p:nvSpPr>
        <p:spPr>
          <a:xfrm>
            <a:off x="6217920" y="38862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4" name="Text 31"/>
          <p:cNvSpPr txBox="1"/>
          <p:nvPr/>
        </p:nvSpPr>
        <p:spPr>
          <a:xfrm>
            <a:off x="6766560" y="3840480"/>
            <a:ext cx="1920240" cy="502920"/>
          </a:xfrm>
          <a:prstGeom prst="rect">
            <a:avLst/>
          </a:prstGeom>
          <a:noFill/>
          <a:ln/>
        </p:spPr>
        <p:txBody>
          <a:bodyPr wrap="square" lIns="0" tIns="0" rIns="0" bIns="0" rtlCol="0" anchor="ctr"/>
          <a:lstStyle/>
          <a:p>
            <a:pPr indent="0" marL="0">
              <a:buNone/>
            </a:pPr>
            <a:r>
              <a:rPr lang="en-US" sz="1400" dirty="0">
                <a:solidFill>
                  <a:schemeClr val="tx1"/>
                </a:solidFill>
              </a:rPr>
              <a:t>Write 10 DAX measures for KPIs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Business problems we set out to solve</a:t>
            </a:r>
            <a:endParaRPr lang="en-US" sz="2800" dirty="0"/>
          </a:p>
        </p:txBody>
      </p:sp>
      <p:sp>
        <p:nvSpPr>
          <p:cNvPr id="4" name="Problem card 1"/>
          <p:cNvSpPr/>
          <p:nvPr/>
        </p:nvSpPr>
        <p:spPr>
          <a:xfrm>
            <a:off x="457200" y="1234440"/>
            <a:ext cx="4023360" cy="1600200"/>
          </a:xfrm>
          <a:prstGeom prst="roundRect">
            <a:avLst>
              <a:gd name="adj" fmla="val 5714"/>
            </a:avLst>
          </a:prstGeom>
          <a:solidFill>
            <a:schemeClr val="bg2"/>
          </a:solidFill>
          <a:ln/>
        </p:spPr>
      </p:sp>
      <p:sp>
        <p:nvSpPr>
          <p:cNvPr id="5" name="Problem dot 1"/>
          <p:cNvSpPr/>
          <p:nvPr/>
        </p:nvSpPr>
        <p:spPr>
          <a:xfrm>
            <a:off x="640080" y="1417320"/>
            <a:ext cx="274320" cy="274320"/>
          </a:xfrm>
          <a:prstGeom prst="ellipse">
            <a:avLst/>
          </a:prstGeom>
          <a:solidFill>
            <a:schemeClr val="accent4"/>
          </a:solidFill>
          <a:ln/>
        </p:spPr>
      </p:sp>
      <p:sp>
        <p:nvSpPr>
          <p:cNvPr id="6" name="Text 3"/>
          <p:cNvSpPr txBox="1"/>
          <p:nvPr/>
        </p:nvSpPr>
        <p:spPr>
          <a:xfrm>
            <a:off x="1051560" y="1344168"/>
            <a:ext cx="1554480" cy="4572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21%</a:t>
            </a:r>
            <a:endParaRPr lang="en-US" sz="2800" dirty="0"/>
          </a:p>
        </p:txBody>
      </p:sp>
      <p:sp>
        <p:nvSpPr>
          <p:cNvPr id="7" name="Text 4"/>
          <p:cNvSpPr txBox="1"/>
          <p:nvPr/>
        </p:nvSpPr>
        <p:spPr>
          <a:xfrm>
            <a:off x="640080" y="1892808"/>
            <a:ext cx="3657600" cy="320040"/>
          </a:xfrm>
          <a:prstGeom prst="rect">
            <a:avLst/>
          </a:prstGeom>
          <a:noFill/>
          <a:ln/>
        </p:spPr>
        <p:txBody>
          <a:bodyPr wrap="square" lIns="0" tIns="0" rIns="0" bIns="0" rtlCol="0" anchor="t"/>
          <a:lstStyle/>
          <a:p>
            <a:pPr indent="0" marL="0">
              <a:buNone/>
            </a:pPr>
            <a:r>
              <a:rPr lang="en-US" sz="1600" b="1" dirty="0">
                <a:solidFill>
                  <a:schemeClr val="tx1"/>
                </a:solidFill>
              </a:rPr>
              <a:t>of closed appointments are lost</a:t>
            </a:r>
            <a:endParaRPr lang="en-US" sz="1600" dirty="0"/>
          </a:p>
        </p:txBody>
      </p:sp>
      <p:sp>
        <p:nvSpPr>
          <p:cNvPr id="8" name="Text 5"/>
          <p:cNvSpPr txBox="1"/>
          <p:nvPr/>
        </p:nvSpPr>
        <p:spPr>
          <a:xfrm>
            <a:off x="640080" y="2221992"/>
            <a:ext cx="3657600" cy="566928"/>
          </a:xfrm>
          <a:prstGeom prst="rect">
            <a:avLst/>
          </a:prstGeom>
          <a:noFill/>
          <a:ln/>
        </p:spPr>
        <p:txBody>
          <a:bodyPr wrap="square" lIns="0" tIns="0" rIns="0" bIns="0" rtlCol="0" anchor="t"/>
          <a:lstStyle/>
          <a:p>
            <a:pPr indent="0" marL="0">
              <a:buNone/>
            </a:pPr>
            <a:r>
              <a:rPr lang="en-US" sz="1400" dirty="0">
                <a:solidFill>
                  <a:srgbClr val="5B6B7B"/>
                </a:solidFill>
              </a:rPr>
              <a:t>12.1% cancelled plus 9.1% no-show, about ₹6.9 lakh of potential revenue</a:t>
            </a:r>
            <a:endParaRPr lang="en-US" sz="1400" dirty="0"/>
          </a:p>
        </p:txBody>
      </p:sp>
      <p:sp>
        <p:nvSpPr>
          <p:cNvPr id="9" name="Problem card 2"/>
          <p:cNvSpPr/>
          <p:nvPr/>
        </p:nvSpPr>
        <p:spPr>
          <a:xfrm>
            <a:off x="4663440" y="1234440"/>
            <a:ext cx="4023360" cy="1600200"/>
          </a:xfrm>
          <a:prstGeom prst="roundRect">
            <a:avLst>
              <a:gd name="adj" fmla="val 5714"/>
            </a:avLst>
          </a:prstGeom>
          <a:solidFill>
            <a:schemeClr val="bg2"/>
          </a:solidFill>
          <a:ln/>
        </p:spPr>
      </p:sp>
      <p:sp>
        <p:nvSpPr>
          <p:cNvPr id="10" name="Problem dot 2"/>
          <p:cNvSpPr/>
          <p:nvPr/>
        </p:nvSpPr>
        <p:spPr>
          <a:xfrm>
            <a:off x="4846320" y="1417320"/>
            <a:ext cx="274320" cy="274320"/>
          </a:xfrm>
          <a:prstGeom prst="ellipse">
            <a:avLst/>
          </a:prstGeom>
          <a:solidFill>
            <a:schemeClr val="accent2"/>
          </a:solidFill>
          <a:ln/>
        </p:spPr>
      </p:sp>
      <p:sp>
        <p:nvSpPr>
          <p:cNvPr id="11" name="Text 8"/>
          <p:cNvSpPr txBox="1"/>
          <p:nvPr/>
        </p:nvSpPr>
        <p:spPr>
          <a:xfrm>
            <a:off x="5257800" y="1344168"/>
            <a:ext cx="1554480" cy="4572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14-17%</a:t>
            </a:r>
            <a:endParaRPr lang="en-US" sz="2800" dirty="0"/>
          </a:p>
        </p:txBody>
      </p:sp>
      <p:sp>
        <p:nvSpPr>
          <p:cNvPr id="12" name="Text 9"/>
          <p:cNvSpPr txBox="1"/>
          <p:nvPr/>
        </p:nvSpPr>
        <p:spPr>
          <a:xfrm>
            <a:off x="4846320" y="1892808"/>
            <a:ext cx="3657600" cy="320040"/>
          </a:xfrm>
          <a:prstGeom prst="rect">
            <a:avLst/>
          </a:prstGeom>
          <a:noFill/>
          <a:ln/>
        </p:spPr>
        <p:txBody>
          <a:bodyPr wrap="square" lIns="0" tIns="0" rIns="0" bIns="0" rtlCol="0" anchor="t"/>
          <a:lstStyle/>
          <a:p>
            <a:pPr indent="0" marL="0">
              <a:buNone/>
            </a:pPr>
            <a:r>
              <a:rPr lang="en-US" sz="1600" b="1" dirty="0">
                <a:solidFill>
                  <a:schemeClr val="tx1"/>
                </a:solidFill>
              </a:rPr>
              <a:t>cancellation in three departments</a:t>
            </a:r>
            <a:endParaRPr lang="en-US" sz="1600" dirty="0"/>
          </a:p>
        </p:txBody>
      </p:sp>
      <p:sp>
        <p:nvSpPr>
          <p:cNvPr id="13" name="Text 10"/>
          <p:cNvSpPr txBox="1"/>
          <p:nvPr/>
        </p:nvSpPr>
        <p:spPr>
          <a:xfrm>
            <a:off x="4846320" y="2221992"/>
            <a:ext cx="3657600" cy="566928"/>
          </a:xfrm>
          <a:prstGeom prst="rect">
            <a:avLst/>
          </a:prstGeom>
          <a:noFill/>
          <a:ln/>
        </p:spPr>
        <p:txBody>
          <a:bodyPr wrap="square" lIns="0" tIns="0" rIns="0" bIns="0" rtlCol="0" anchor="t"/>
          <a:lstStyle/>
          <a:p>
            <a:pPr indent="0" marL="0">
              <a:buNone/>
            </a:pPr>
            <a:r>
              <a:rPr lang="en-US" sz="1400" dirty="0">
                <a:solidFill>
                  <a:srgbClr val="5B6B7B"/>
                </a:solidFill>
              </a:rPr>
              <a:t>ENT, Pediatrics and General Medicine sit well above the 12.1% average</a:t>
            </a:r>
            <a:endParaRPr lang="en-US" sz="1400" dirty="0"/>
          </a:p>
        </p:txBody>
      </p:sp>
      <p:sp>
        <p:nvSpPr>
          <p:cNvPr id="14" name="Problem card 3"/>
          <p:cNvSpPr/>
          <p:nvPr/>
        </p:nvSpPr>
        <p:spPr>
          <a:xfrm>
            <a:off x="457200" y="2971800"/>
            <a:ext cx="4023360" cy="1600200"/>
          </a:xfrm>
          <a:prstGeom prst="roundRect">
            <a:avLst>
              <a:gd name="adj" fmla="val 5714"/>
            </a:avLst>
          </a:prstGeom>
          <a:solidFill>
            <a:schemeClr val="bg2"/>
          </a:solidFill>
          <a:ln/>
        </p:spPr>
      </p:sp>
      <p:sp>
        <p:nvSpPr>
          <p:cNvPr id="15" name="Problem dot 3"/>
          <p:cNvSpPr/>
          <p:nvPr/>
        </p:nvSpPr>
        <p:spPr>
          <a:xfrm>
            <a:off x="640080" y="3154680"/>
            <a:ext cx="274320" cy="274320"/>
          </a:xfrm>
          <a:prstGeom prst="ellipse">
            <a:avLst/>
          </a:prstGeom>
          <a:solidFill>
            <a:schemeClr val="accent3"/>
          </a:solidFill>
          <a:ln/>
        </p:spPr>
      </p:sp>
      <p:sp>
        <p:nvSpPr>
          <p:cNvPr id="16" name="Text 13"/>
          <p:cNvSpPr txBox="1"/>
          <p:nvPr/>
        </p:nvSpPr>
        <p:spPr>
          <a:xfrm>
            <a:off x="1051560" y="3081528"/>
            <a:ext cx="1554480" cy="4572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33%</a:t>
            </a:r>
            <a:endParaRPr lang="en-US" sz="2800" dirty="0"/>
          </a:p>
        </p:txBody>
      </p:sp>
      <p:sp>
        <p:nvSpPr>
          <p:cNvPr id="17" name="Text 14"/>
          <p:cNvSpPr txBox="1"/>
          <p:nvPr/>
        </p:nvSpPr>
        <p:spPr>
          <a:xfrm>
            <a:off x="640080" y="3630168"/>
            <a:ext cx="3657600" cy="320040"/>
          </a:xfrm>
          <a:prstGeom prst="rect">
            <a:avLst/>
          </a:prstGeom>
          <a:noFill/>
          <a:ln/>
        </p:spPr>
        <p:txBody>
          <a:bodyPr wrap="square" lIns="0" tIns="0" rIns="0" bIns="0" rtlCol="0" anchor="t"/>
          <a:lstStyle/>
          <a:p>
            <a:pPr indent="0" marL="0">
              <a:buNone/>
            </a:pPr>
            <a:r>
              <a:rPr lang="en-US" sz="1600" b="1" dirty="0">
                <a:solidFill>
                  <a:schemeClr val="tx1"/>
                </a:solidFill>
              </a:rPr>
              <a:t>of revenue is Self Pay</a:t>
            </a:r>
            <a:endParaRPr lang="en-US" sz="1600" dirty="0"/>
          </a:p>
        </p:txBody>
      </p:sp>
      <p:sp>
        <p:nvSpPr>
          <p:cNvPr id="18" name="Text 15"/>
          <p:cNvSpPr txBox="1"/>
          <p:nvPr/>
        </p:nvSpPr>
        <p:spPr>
          <a:xfrm>
            <a:off x="640080" y="3959352"/>
            <a:ext cx="3657600" cy="566928"/>
          </a:xfrm>
          <a:prstGeom prst="rect">
            <a:avLst/>
          </a:prstGeom>
          <a:noFill/>
          <a:ln/>
        </p:spPr>
        <p:txBody>
          <a:bodyPr wrap="square" lIns="0" tIns="0" rIns="0" bIns="0" rtlCol="0" anchor="t"/>
          <a:lstStyle/>
          <a:p>
            <a:pPr indent="0" marL="0">
              <a:buNone/>
            </a:pPr>
            <a:r>
              <a:rPr lang="en-US" sz="1400" dirty="0">
                <a:solidFill>
                  <a:srgbClr val="5B6B7B"/>
                </a:solidFill>
              </a:rPr>
              <a:t>One-third of income comes with no insurer, so payer mix needs attention</a:t>
            </a:r>
            <a:endParaRPr lang="en-US" sz="1400" dirty="0"/>
          </a:p>
        </p:txBody>
      </p:sp>
      <p:sp>
        <p:nvSpPr>
          <p:cNvPr id="19" name="Problem card 4"/>
          <p:cNvSpPr/>
          <p:nvPr/>
        </p:nvSpPr>
        <p:spPr>
          <a:xfrm>
            <a:off x="4663440" y="2971800"/>
            <a:ext cx="4023360" cy="1600200"/>
          </a:xfrm>
          <a:prstGeom prst="roundRect">
            <a:avLst>
              <a:gd name="adj" fmla="val 5714"/>
            </a:avLst>
          </a:prstGeom>
          <a:solidFill>
            <a:schemeClr val="bg2"/>
          </a:solidFill>
          <a:ln/>
        </p:spPr>
      </p:sp>
      <p:sp>
        <p:nvSpPr>
          <p:cNvPr id="20" name="Problem dot 4"/>
          <p:cNvSpPr/>
          <p:nvPr/>
        </p:nvSpPr>
        <p:spPr>
          <a:xfrm>
            <a:off x="4846320" y="3154680"/>
            <a:ext cx="274320" cy="274320"/>
          </a:xfrm>
          <a:prstGeom prst="ellipse">
            <a:avLst/>
          </a:prstGeom>
          <a:solidFill>
            <a:schemeClr val="accent1"/>
          </a:solidFill>
          <a:ln/>
        </p:spPr>
      </p:sp>
      <p:sp>
        <p:nvSpPr>
          <p:cNvPr id="21" name="Text 18"/>
          <p:cNvSpPr txBox="1"/>
          <p:nvPr/>
        </p:nvSpPr>
        <p:spPr>
          <a:xfrm>
            <a:off x="5257800" y="3081528"/>
            <a:ext cx="1554480" cy="4572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44%</a:t>
            </a:r>
            <a:endParaRPr lang="en-US" sz="2800" dirty="0"/>
          </a:p>
        </p:txBody>
      </p:sp>
      <p:sp>
        <p:nvSpPr>
          <p:cNvPr id="22" name="Text 19"/>
          <p:cNvSpPr txBox="1"/>
          <p:nvPr/>
        </p:nvSpPr>
        <p:spPr>
          <a:xfrm>
            <a:off x="4846320" y="3630168"/>
            <a:ext cx="3657600" cy="320040"/>
          </a:xfrm>
          <a:prstGeom prst="rect">
            <a:avLst/>
          </a:prstGeom>
          <a:noFill/>
          <a:ln/>
        </p:spPr>
        <p:txBody>
          <a:bodyPr wrap="square" lIns="0" tIns="0" rIns="0" bIns="0" rtlCol="0" anchor="t"/>
          <a:lstStyle/>
          <a:p>
            <a:pPr indent="0" marL="0">
              <a:buNone/>
            </a:pPr>
            <a:r>
              <a:rPr lang="en-US" sz="1600" b="1" dirty="0">
                <a:solidFill>
                  <a:schemeClr val="tx1"/>
                </a:solidFill>
              </a:rPr>
              <a:t>of revenue from 3 departments</a:t>
            </a:r>
            <a:endParaRPr lang="en-US" sz="1600" dirty="0"/>
          </a:p>
        </p:txBody>
      </p:sp>
      <p:sp>
        <p:nvSpPr>
          <p:cNvPr id="23" name="Text 20"/>
          <p:cNvSpPr txBox="1"/>
          <p:nvPr/>
        </p:nvSpPr>
        <p:spPr>
          <a:xfrm>
            <a:off x="4846320" y="3959352"/>
            <a:ext cx="3657600" cy="566928"/>
          </a:xfrm>
          <a:prstGeom prst="rect">
            <a:avLst/>
          </a:prstGeom>
          <a:noFill/>
          <a:ln/>
        </p:spPr>
        <p:txBody>
          <a:bodyPr wrap="square" lIns="0" tIns="0" rIns="0" bIns="0" rtlCol="0" anchor="t"/>
          <a:lstStyle/>
          <a:p>
            <a:pPr indent="0" marL="0">
              <a:buNone/>
            </a:pPr>
            <a:r>
              <a:rPr lang="en-US" sz="1400" dirty="0">
                <a:solidFill>
                  <a:srgbClr val="5B6B7B"/>
                </a:solidFill>
              </a:rPr>
              <a:t>Orthopedics, General Medicine and Cardiology carry the business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DAX measures behind the KPIs</a:t>
            </a:r>
            <a:endParaRPr lang="en-US" sz="2800" dirty="0"/>
          </a:p>
        </p:txBody>
      </p:sp>
      <p:graphicFrame>
        <p:nvGraphicFramePr>
          <p:cNvPr id="7" name="DAX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03120"/>
                <a:gridCol w="3108960"/>
                <a:gridCol w="3017520"/>
              </a:tblGrid>
              <a:tr h="324612">
                <a:tc>
                  <a:txBody>
                    <a:bodyPr/>
                    <a:lstStyle/>
                    <a:p>
                      <a:pPr indent="0" marL="0">
                        <a:buNone/>
                      </a:pPr>
                      <a:r>
                        <a:rPr lang="en-US" sz="1200" b="1" dirty="0">
                          <a:solidFill>
                            <a:srgbClr val="FFFFFF"/>
                          </a:solidFill>
                        </a:rPr>
                        <a:t>Measure</a:t>
                      </a:r>
                      <a:endParaRPr lang="en-US" sz="12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rPr>
                        <a:t>Logic</a:t>
                      </a:r>
                      <a:endParaRPr lang="en-US" sz="12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rPr>
                        <a:t>Business use</a:t>
                      </a:r>
                      <a:endParaRPr lang="en-US" sz="12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F766E"/>
                    </a:solidFill>
                  </a:tcPr>
                </a:tc>
              </a:tr>
              <a:tr h="324612">
                <a:tc>
                  <a:txBody>
                    <a:bodyPr/>
                    <a:lstStyle/>
                    <a:p>
                      <a:pPr indent="0" marL="0">
                        <a:buNone/>
                      </a:pPr>
                      <a:r>
                        <a:rPr lang="en-US" sz="1100" b="1" dirty="0">
                          <a:solidFill>
                            <a:srgbClr val="0B1F33"/>
                          </a:solidFill>
                        </a:rPr>
                        <a:t>Total Appointments</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COUNTROWS(Appointments)</a:t>
                      </a:r>
                      <a:endParaRPr lang="en-US" sz="1100" dirty="0">
                        <a:latin typeface="Consolas" charset="0"/>
                        <a:ea typeface="Consolas" charset="0"/>
                        <a:cs typeface="Consolas" charset="0"/>
                      </a:endParaRPr>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Overall demand</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324612">
                <a:tc>
                  <a:txBody>
                    <a:bodyPr/>
                    <a:lstStyle/>
                    <a:p>
                      <a:pPr indent="0" marL="0">
                        <a:buNone/>
                      </a:pPr>
                      <a:r>
                        <a:rPr lang="en-US" sz="1100" b="1" dirty="0">
                          <a:solidFill>
                            <a:srgbClr val="0B1F33"/>
                          </a:solidFill>
                        </a:rPr>
                        <a:t>Completed Appointments</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Count where Status = Completed</a:t>
                      </a:r>
                      <a:endParaRPr lang="en-US" sz="1100" dirty="0">
                        <a:latin typeface="Consolas" charset="0"/>
                        <a:ea typeface="Consolas" charset="0"/>
                        <a:cs typeface="Consolas" charset="0"/>
                      </a:endParaRPr>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Visits actually delivered</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324612">
                <a:tc>
                  <a:txBody>
                    <a:bodyPr/>
                    <a:lstStyle/>
                    <a:p>
                      <a:pPr indent="0" marL="0">
                        <a:buNone/>
                      </a:pPr>
                      <a:r>
                        <a:rPr lang="en-US" sz="1100" b="1" dirty="0">
                          <a:solidFill>
                            <a:srgbClr val="0B1F33"/>
                          </a:solidFill>
                        </a:rPr>
                        <a:t>Cancelled Appointments</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Count where Status = Cancelled</a:t>
                      </a:r>
                      <a:endParaRPr lang="en-US" sz="1100" dirty="0">
                        <a:latin typeface="Consolas" charset="0"/>
                        <a:ea typeface="Consolas" charset="0"/>
                        <a:cs typeface="Consolas" charset="0"/>
                      </a:endParaRPr>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Bookings lost by cancellation</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324612">
                <a:tc>
                  <a:txBody>
                    <a:bodyPr/>
                    <a:lstStyle/>
                    <a:p>
                      <a:pPr indent="0" marL="0">
                        <a:buNone/>
                      </a:pPr>
                      <a:r>
                        <a:rPr lang="en-US" sz="1100" b="1" dirty="0">
                          <a:solidFill>
                            <a:srgbClr val="0B1F33"/>
                          </a:solidFill>
                        </a:rPr>
                        <a:t>No Show Appointments</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Count where Status = No Show</a:t>
                      </a:r>
                      <a:endParaRPr lang="en-US" sz="1100" dirty="0">
                        <a:latin typeface="Consolas" charset="0"/>
                        <a:ea typeface="Consolas" charset="0"/>
                        <a:cs typeface="Consolas" charset="0"/>
                      </a:endParaRPr>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Bookings lost to absence</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324612">
                <a:tc>
                  <a:txBody>
                    <a:bodyPr/>
                    <a:lstStyle/>
                    <a:p>
                      <a:pPr indent="0" marL="0">
                        <a:buNone/>
                      </a:pPr>
                      <a:r>
                        <a:rPr lang="en-US" sz="1100" b="1" dirty="0">
                          <a:solidFill>
                            <a:srgbClr val="0B1F33"/>
                          </a:solidFill>
                        </a:rPr>
                        <a:t>Scheduled Appointments</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Count where Status = Scheduled</a:t>
                      </a:r>
                      <a:endParaRPr lang="en-US" sz="1100" dirty="0">
                        <a:latin typeface="Consolas" charset="0"/>
                        <a:ea typeface="Consolas" charset="0"/>
                        <a:cs typeface="Consolas" charset="0"/>
                      </a:endParaRPr>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Future bookings, not yet closed</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324612">
                <a:tc>
                  <a:txBody>
                    <a:bodyPr/>
                    <a:lstStyle/>
                    <a:p>
                      <a:pPr indent="0" marL="0">
                        <a:buNone/>
                      </a:pPr>
                      <a:r>
                        <a:rPr lang="en-US" sz="1100" b="1" dirty="0">
                          <a:solidFill>
                            <a:srgbClr val="0B1F33"/>
                          </a:solidFill>
                        </a:rPr>
                        <a:t>Closed Appointments</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Total - Scheduled</a:t>
                      </a:r>
                      <a:endParaRPr lang="en-US" sz="1100" dirty="0">
                        <a:latin typeface="Consolas" charset="0"/>
                        <a:ea typeface="Consolas" charset="0"/>
                        <a:cs typeface="Consolas" charset="0"/>
                      </a:endParaRPr>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Fair base for loss rates</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324612">
                <a:tc>
                  <a:txBody>
                    <a:bodyPr/>
                    <a:lstStyle/>
                    <a:p>
                      <a:pPr indent="0" marL="0">
                        <a:buNone/>
                      </a:pPr>
                      <a:r>
                        <a:rPr lang="en-US" sz="1100" b="1" dirty="0">
                          <a:solidFill>
                            <a:srgbClr val="0B1F33"/>
                          </a:solidFill>
                        </a:rPr>
                        <a:t>Total Revenue</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SUM(Fee) where Completed</a:t>
                      </a:r>
                      <a:endParaRPr lang="en-US" sz="1100" dirty="0">
                        <a:latin typeface="Consolas" charset="0"/>
                        <a:ea typeface="Consolas" charset="0"/>
                        <a:cs typeface="Consolas" charset="0"/>
                      </a:endParaRPr>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Realised income</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324612">
                <a:tc>
                  <a:txBody>
                    <a:bodyPr/>
                    <a:lstStyle/>
                    <a:p>
                      <a:pPr indent="0" marL="0">
                        <a:buNone/>
                      </a:pPr>
                      <a:r>
                        <a:rPr lang="en-US" sz="1100" b="1" dirty="0">
                          <a:solidFill>
                            <a:srgbClr val="0B1F33"/>
                          </a:solidFill>
                        </a:rPr>
                        <a:t>Average Consultation Fee</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DIVIDE(Revenue, Completed)</a:t>
                      </a:r>
                      <a:endParaRPr lang="en-US" sz="1100" dirty="0">
                        <a:latin typeface="Consolas" charset="0"/>
                        <a:ea typeface="Consolas" charset="0"/>
                        <a:cs typeface="Consolas" charset="0"/>
                      </a:endParaRPr>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Revenue per visit</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324612">
                <a:tc>
                  <a:txBody>
                    <a:bodyPr/>
                    <a:lstStyle/>
                    <a:p>
                      <a:pPr indent="0" marL="0">
                        <a:buNone/>
                      </a:pPr>
                      <a:r>
                        <a:rPr lang="en-US" sz="1100" b="1" dirty="0">
                          <a:solidFill>
                            <a:srgbClr val="0B1F33"/>
                          </a:solidFill>
                        </a:rPr>
                        <a:t>No Show Rate %</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DIVIDE(No Show, Closed)</a:t>
                      </a:r>
                      <a:endParaRPr lang="en-US" sz="1100" dirty="0">
                        <a:latin typeface="Consolas" charset="0"/>
                        <a:ea typeface="Consolas" charset="0"/>
                        <a:cs typeface="Consolas" charset="0"/>
                      </a:endParaRPr>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Leakage from absence</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324612">
                <a:tc>
                  <a:txBody>
                    <a:bodyPr/>
                    <a:lstStyle/>
                    <a:p>
                      <a:pPr indent="0" marL="0">
                        <a:buNone/>
                      </a:pPr>
                      <a:r>
                        <a:rPr lang="en-US" sz="1100" b="1" dirty="0">
                          <a:solidFill>
                            <a:srgbClr val="0B1F33"/>
                          </a:solidFill>
                        </a:rPr>
                        <a:t>Cancellation Rate %</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Consolas" pitchFamily="34" charset="0"/>
                          <a:ea typeface="Consolas" pitchFamily="34" charset="-122"/>
                          <a:cs typeface="Consolas" pitchFamily="34" charset="-120"/>
                        </a:rPr>
                        <a:t>DIVIDE(Cancelled, Closed)</a:t>
                      </a:r>
                      <a:endParaRPr lang="en-US" sz="1100" dirty="0">
                        <a:latin typeface="Consolas" charset="0"/>
                        <a:ea typeface="Consolas" charset="0"/>
                        <a:cs typeface="Consolas" charset="0"/>
                      </a:endParaRPr>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Leakage from cancellation</a:t>
                      </a:r>
                      <a:endParaRPr lang="en-US" sz="1100" dirty="0"/>
                    </a:p>
                  </a:txBody>
                  <a:tcPr marL="91440" marR="91440" marT="18288" marB="18288"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Dashboard at a glance</a:t>
            </a:r>
            <a:endParaRPr lang="en-US" sz="2800" dirty="0"/>
          </a:p>
        </p:txBody>
      </p:sp>
      <p:sp>
        <p:nvSpPr>
          <p:cNvPr id="4" name="Frame"/>
          <p:cNvSpPr/>
          <p:nvPr/>
        </p:nvSpPr>
        <p:spPr>
          <a:xfrm>
            <a:off x="448056" y="1225296"/>
            <a:ext cx="3950208" cy="2269998"/>
          </a:xfrm>
          <a:prstGeom prst="rect">
            <a:avLst/>
          </a:prstGeom>
          <a:solidFill>
            <a:schemeClr val="bg2"/>
          </a:solidFill>
          <a:ln/>
        </p:spPr>
      </p:sp>
      <p:sp>
        <p:nvSpPr>
          <p:cNvPr id="5" name="Visual 1"/>
          <p:cNvSpPr/>
          <p:nvPr/>
        </p:nvSpPr>
        <p:spPr>
          <a:xfrm>
            <a:off x="502920" y="1280160"/>
            <a:ext cx="3840480" cy="208026"/>
          </a:xfrm>
          <a:prstGeom prst="rect">
            <a:avLst/>
          </a:prstGeom>
          <a:solidFill>
            <a:schemeClr val="tx1"/>
          </a:solidFill>
          <a:ln/>
        </p:spPr>
      </p:sp>
      <p:sp>
        <p:nvSpPr>
          <p:cNvPr id="6" name="Visual 2"/>
          <p:cNvSpPr/>
          <p:nvPr/>
        </p:nvSpPr>
        <p:spPr>
          <a:xfrm>
            <a:off x="550926" y="1548194"/>
            <a:ext cx="800100" cy="176022"/>
          </a:xfrm>
          <a:prstGeom prst="rect">
            <a:avLst/>
          </a:prstGeom>
          <a:solidFill>
            <a:schemeClr val="accent2">
              <a:alpha val="30000"/>
            </a:schemeClr>
          </a:solidFill>
          <a:ln w="9525">
            <a:solidFill>
              <a:schemeClr val="accent2"/>
            </a:solidFill>
            <a:prstDash val="solid"/>
          </a:ln>
        </p:spPr>
      </p:sp>
      <p:sp>
        <p:nvSpPr>
          <p:cNvPr id="7" name="Visual 3"/>
          <p:cNvSpPr/>
          <p:nvPr/>
        </p:nvSpPr>
        <p:spPr>
          <a:xfrm>
            <a:off x="1383030" y="1548194"/>
            <a:ext cx="840105" cy="176022"/>
          </a:xfrm>
          <a:prstGeom prst="rect">
            <a:avLst/>
          </a:prstGeom>
          <a:solidFill>
            <a:schemeClr val="accent2">
              <a:alpha val="30000"/>
            </a:schemeClr>
          </a:solidFill>
          <a:ln w="9525">
            <a:solidFill>
              <a:schemeClr val="accent2"/>
            </a:solidFill>
            <a:prstDash val="solid"/>
          </a:ln>
        </p:spPr>
      </p:sp>
      <p:sp>
        <p:nvSpPr>
          <p:cNvPr id="8" name="Visual 4"/>
          <p:cNvSpPr/>
          <p:nvPr/>
        </p:nvSpPr>
        <p:spPr>
          <a:xfrm>
            <a:off x="2255139" y="1548194"/>
            <a:ext cx="1000125" cy="176022"/>
          </a:xfrm>
          <a:prstGeom prst="rect">
            <a:avLst/>
          </a:prstGeom>
          <a:solidFill>
            <a:schemeClr val="accent2">
              <a:alpha val="30000"/>
            </a:schemeClr>
          </a:solidFill>
          <a:ln w="9525">
            <a:solidFill>
              <a:schemeClr val="accent2"/>
            </a:solidFill>
            <a:prstDash val="solid"/>
          </a:ln>
        </p:spPr>
      </p:sp>
      <p:sp>
        <p:nvSpPr>
          <p:cNvPr id="9" name="Visual 5"/>
          <p:cNvSpPr/>
          <p:nvPr/>
        </p:nvSpPr>
        <p:spPr>
          <a:xfrm>
            <a:off x="3287268" y="1548194"/>
            <a:ext cx="1008126" cy="176022"/>
          </a:xfrm>
          <a:prstGeom prst="rect">
            <a:avLst/>
          </a:prstGeom>
          <a:solidFill>
            <a:schemeClr val="accent2">
              <a:alpha val="30000"/>
            </a:schemeClr>
          </a:solidFill>
          <a:ln w="9525">
            <a:solidFill>
              <a:schemeClr val="accent2"/>
            </a:solidFill>
            <a:prstDash val="solid"/>
          </a:ln>
        </p:spPr>
      </p:sp>
      <p:sp>
        <p:nvSpPr>
          <p:cNvPr id="10" name="Visual 6"/>
          <p:cNvSpPr/>
          <p:nvPr/>
        </p:nvSpPr>
        <p:spPr>
          <a:xfrm>
            <a:off x="550926" y="1772222"/>
            <a:ext cx="596075" cy="320040"/>
          </a:xfrm>
          <a:prstGeom prst="rect">
            <a:avLst/>
          </a:prstGeom>
          <a:solidFill>
            <a:schemeClr val="accent1"/>
          </a:solidFill>
          <a:ln/>
        </p:spPr>
      </p:sp>
      <p:sp>
        <p:nvSpPr>
          <p:cNvPr id="11" name="Visual 7"/>
          <p:cNvSpPr/>
          <p:nvPr/>
        </p:nvSpPr>
        <p:spPr>
          <a:xfrm>
            <a:off x="1179005" y="1772222"/>
            <a:ext cx="596075" cy="320040"/>
          </a:xfrm>
          <a:prstGeom prst="rect">
            <a:avLst/>
          </a:prstGeom>
          <a:solidFill>
            <a:schemeClr val="accent1"/>
          </a:solidFill>
          <a:ln/>
        </p:spPr>
      </p:sp>
      <p:sp>
        <p:nvSpPr>
          <p:cNvPr id="12" name="Visual 8"/>
          <p:cNvSpPr/>
          <p:nvPr/>
        </p:nvSpPr>
        <p:spPr>
          <a:xfrm>
            <a:off x="1809083" y="1772222"/>
            <a:ext cx="596075" cy="320040"/>
          </a:xfrm>
          <a:prstGeom prst="rect">
            <a:avLst/>
          </a:prstGeom>
          <a:solidFill>
            <a:schemeClr val="accent1"/>
          </a:solidFill>
          <a:ln/>
        </p:spPr>
      </p:sp>
      <p:sp>
        <p:nvSpPr>
          <p:cNvPr id="13" name="Visual 9"/>
          <p:cNvSpPr/>
          <p:nvPr/>
        </p:nvSpPr>
        <p:spPr>
          <a:xfrm>
            <a:off x="2439162" y="1772222"/>
            <a:ext cx="596075" cy="320040"/>
          </a:xfrm>
          <a:prstGeom prst="rect">
            <a:avLst/>
          </a:prstGeom>
          <a:solidFill>
            <a:schemeClr val="accent1"/>
          </a:solidFill>
          <a:ln/>
        </p:spPr>
      </p:sp>
      <p:sp>
        <p:nvSpPr>
          <p:cNvPr id="14" name="Visual 10"/>
          <p:cNvSpPr/>
          <p:nvPr/>
        </p:nvSpPr>
        <p:spPr>
          <a:xfrm>
            <a:off x="3067241" y="1772222"/>
            <a:ext cx="596075" cy="320040"/>
          </a:xfrm>
          <a:prstGeom prst="rect">
            <a:avLst/>
          </a:prstGeom>
          <a:solidFill>
            <a:schemeClr val="accent1"/>
          </a:solidFill>
          <a:ln/>
        </p:spPr>
      </p:sp>
      <p:sp>
        <p:nvSpPr>
          <p:cNvPr id="15" name="Visual 11"/>
          <p:cNvSpPr/>
          <p:nvPr/>
        </p:nvSpPr>
        <p:spPr>
          <a:xfrm>
            <a:off x="3697319" y="1772222"/>
            <a:ext cx="596075" cy="320040"/>
          </a:xfrm>
          <a:prstGeom prst="rect">
            <a:avLst/>
          </a:prstGeom>
          <a:solidFill>
            <a:schemeClr val="accent1"/>
          </a:solidFill>
          <a:ln/>
        </p:spPr>
      </p:sp>
      <p:sp>
        <p:nvSpPr>
          <p:cNvPr id="16" name="Visual 12"/>
          <p:cNvSpPr/>
          <p:nvPr/>
        </p:nvSpPr>
        <p:spPr>
          <a:xfrm>
            <a:off x="550926" y="2140268"/>
            <a:ext cx="1856232" cy="600075"/>
          </a:xfrm>
          <a:prstGeom prst="rect">
            <a:avLst/>
          </a:prstGeom>
          <a:solidFill>
            <a:schemeClr val="bg1"/>
          </a:solidFill>
          <a:ln w="9525">
            <a:solidFill>
              <a:schemeClr val="accent1"/>
            </a:solidFill>
            <a:prstDash val="solid"/>
          </a:ln>
        </p:spPr>
      </p:sp>
      <p:sp>
        <p:nvSpPr>
          <p:cNvPr id="17" name="Visual 13"/>
          <p:cNvSpPr/>
          <p:nvPr/>
        </p:nvSpPr>
        <p:spPr>
          <a:xfrm>
            <a:off x="2439162" y="2140268"/>
            <a:ext cx="1856232" cy="600075"/>
          </a:xfrm>
          <a:prstGeom prst="rect">
            <a:avLst/>
          </a:prstGeom>
          <a:solidFill>
            <a:schemeClr val="bg1"/>
          </a:solidFill>
          <a:ln w="9525">
            <a:solidFill>
              <a:schemeClr val="accent1"/>
            </a:solidFill>
            <a:prstDash val="solid"/>
          </a:ln>
        </p:spPr>
      </p:sp>
      <p:sp>
        <p:nvSpPr>
          <p:cNvPr id="18" name="Visual 14"/>
          <p:cNvSpPr/>
          <p:nvPr/>
        </p:nvSpPr>
        <p:spPr>
          <a:xfrm>
            <a:off x="550926" y="2772347"/>
            <a:ext cx="1226153" cy="620078"/>
          </a:xfrm>
          <a:prstGeom prst="rect">
            <a:avLst/>
          </a:prstGeom>
          <a:solidFill>
            <a:schemeClr val="bg1"/>
          </a:solidFill>
          <a:ln w="9525">
            <a:solidFill>
              <a:schemeClr val="accent1"/>
            </a:solidFill>
            <a:prstDash val="solid"/>
          </a:ln>
        </p:spPr>
      </p:sp>
      <p:sp>
        <p:nvSpPr>
          <p:cNvPr id="19" name="Visual 15"/>
          <p:cNvSpPr/>
          <p:nvPr/>
        </p:nvSpPr>
        <p:spPr>
          <a:xfrm>
            <a:off x="1809083" y="2772347"/>
            <a:ext cx="1226153" cy="620078"/>
          </a:xfrm>
          <a:prstGeom prst="rect">
            <a:avLst/>
          </a:prstGeom>
          <a:solidFill>
            <a:schemeClr val="bg1"/>
          </a:solidFill>
          <a:ln w="9525">
            <a:solidFill>
              <a:schemeClr val="accent1"/>
            </a:solidFill>
            <a:prstDash val="solid"/>
          </a:ln>
        </p:spPr>
      </p:sp>
      <p:sp>
        <p:nvSpPr>
          <p:cNvPr id="20" name="Visual 16"/>
          <p:cNvSpPr/>
          <p:nvPr/>
        </p:nvSpPr>
        <p:spPr>
          <a:xfrm>
            <a:off x="3067241" y="2772347"/>
            <a:ext cx="1226153" cy="620078"/>
          </a:xfrm>
          <a:prstGeom prst="rect">
            <a:avLst/>
          </a:prstGeom>
          <a:solidFill>
            <a:schemeClr val="bg1"/>
          </a:solidFill>
          <a:ln w="9525">
            <a:solidFill>
              <a:schemeClr val="accent1"/>
            </a:solidFill>
            <a:prstDash val="solid"/>
          </a:ln>
        </p:spPr>
      </p:sp>
      <p:sp>
        <p:nvSpPr>
          <p:cNvPr id="21" name="Frame"/>
          <p:cNvSpPr/>
          <p:nvPr/>
        </p:nvSpPr>
        <p:spPr>
          <a:xfrm>
            <a:off x="4745736" y="1225296"/>
            <a:ext cx="3950208" cy="2269998"/>
          </a:xfrm>
          <a:prstGeom prst="rect">
            <a:avLst/>
          </a:prstGeom>
          <a:solidFill>
            <a:schemeClr val="bg2"/>
          </a:solidFill>
          <a:ln/>
        </p:spPr>
      </p:sp>
      <p:sp>
        <p:nvSpPr>
          <p:cNvPr id="22" name="Visual 1"/>
          <p:cNvSpPr/>
          <p:nvPr/>
        </p:nvSpPr>
        <p:spPr>
          <a:xfrm>
            <a:off x="4800600" y="1280160"/>
            <a:ext cx="3840480" cy="208026"/>
          </a:xfrm>
          <a:prstGeom prst="rect">
            <a:avLst/>
          </a:prstGeom>
          <a:solidFill>
            <a:schemeClr val="tx1"/>
          </a:solidFill>
          <a:ln/>
        </p:spPr>
      </p:sp>
      <p:sp>
        <p:nvSpPr>
          <p:cNvPr id="23" name="Visual 2"/>
          <p:cNvSpPr/>
          <p:nvPr/>
        </p:nvSpPr>
        <p:spPr>
          <a:xfrm>
            <a:off x="4848606" y="1548194"/>
            <a:ext cx="1226153" cy="176022"/>
          </a:xfrm>
          <a:prstGeom prst="rect">
            <a:avLst/>
          </a:prstGeom>
          <a:solidFill>
            <a:schemeClr val="accent2">
              <a:alpha val="30000"/>
            </a:schemeClr>
          </a:solidFill>
          <a:ln w="9525">
            <a:solidFill>
              <a:schemeClr val="accent2"/>
            </a:solidFill>
            <a:prstDash val="solid"/>
          </a:ln>
        </p:spPr>
      </p:sp>
      <p:sp>
        <p:nvSpPr>
          <p:cNvPr id="24" name="Visual 3"/>
          <p:cNvSpPr/>
          <p:nvPr/>
        </p:nvSpPr>
        <p:spPr>
          <a:xfrm>
            <a:off x="6106763" y="1548194"/>
            <a:ext cx="1226153" cy="176022"/>
          </a:xfrm>
          <a:prstGeom prst="rect">
            <a:avLst/>
          </a:prstGeom>
          <a:solidFill>
            <a:schemeClr val="accent2">
              <a:alpha val="30000"/>
            </a:schemeClr>
          </a:solidFill>
          <a:ln w="9525">
            <a:solidFill>
              <a:schemeClr val="accent2"/>
            </a:solidFill>
            <a:prstDash val="solid"/>
          </a:ln>
        </p:spPr>
      </p:sp>
      <p:sp>
        <p:nvSpPr>
          <p:cNvPr id="25" name="Visual 4"/>
          <p:cNvSpPr/>
          <p:nvPr/>
        </p:nvSpPr>
        <p:spPr>
          <a:xfrm>
            <a:off x="7364921" y="1548194"/>
            <a:ext cx="1226153" cy="176022"/>
          </a:xfrm>
          <a:prstGeom prst="rect">
            <a:avLst/>
          </a:prstGeom>
          <a:solidFill>
            <a:schemeClr val="accent2">
              <a:alpha val="30000"/>
            </a:schemeClr>
          </a:solidFill>
          <a:ln w="9525">
            <a:solidFill>
              <a:schemeClr val="accent2"/>
            </a:solidFill>
            <a:prstDash val="solid"/>
          </a:ln>
        </p:spPr>
      </p:sp>
      <p:sp>
        <p:nvSpPr>
          <p:cNvPr id="26" name="Visual 5"/>
          <p:cNvSpPr/>
          <p:nvPr/>
        </p:nvSpPr>
        <p:spPr>
          <a:xfrm>
            <a:off x="4846606" y="1768221"/>
            <a:ext cx="1226153" cy="300038"/>
          </a:xfrm>
          <a:prstGeom prst="rect">
            <a:avLst/>
          </a:prstGeom>
          <a:solidFill>
            <a:schemeClr val="accent1"/>
          </a:solidFill>
          <a:ln/>
        </p:spPr>
      </p:sp>
      <p:sp>
        <p:nvSpPr>
          <p:cNvPr id="27" name="Visual 6"/>
          <p:cNvSpPr/>
          <p:nvPr/>
        </p:nvSpPr>
        <p:spPr>
          <a:xfrm>
            <a:off x="6106763" y="1772222"/>
            <a:ext cx="1226153" cy="300038"/>
          </a:xfrm>
          <a:prstGeom prst="rect">
            <a:avLst/>
          </a:prstGeom>
          <a:solidFill>
            <a:schemeClr val="accent1"/>
          </a:solidFill>
          <a:ln/>
        </p:spPr>
      </p:sp>
      <p:sp>
        <p:nvSpPr>
          <p:cNvPr id="28" name="Visual 7"/>
          <p:cNvSpPr/>
          <p:nvPr/>
        </p:nvSpPr>
        <p:spPr>
          <a:xfrm>
            <a:off x="7364921" y="1772222"/>
            <a:ext cx="1226153" cy="300038"/>
          </a:xfrm>
          <a:prstGeom prst="rect">
            <a:avLst/>
          </a:prstGeom>
          <a:solidFill>
            <a:schemeClr val="accent1"/>
          </a:solidFill>
          <a:ln/>
        </p:spPr>
      </p:sp>
      <p:sp>
        <p:nvSpPr>
          <p:cNvPr id="29" name="Visual 8"/>
          <p:cNvSpPr/>
          <p:nvPr/>
        </p:nvSpPr>
        <p:spPr>
          <a:xfrm>
            <a:off x="4848606" y="2120265"/>
            <a:ext cx="1872234" cy="1272159"/>
          </a:xfrm>
          <a:prstGeom prst="rect">
            <a:avLst/>
          </a:prstGeom>
          <a:solidFill>
            <a:schemeClr val="bg1"/>
          </a:solidFill>
          <a:ln w="9525">
            <a:solidFill>
              <a:schemeClr val="accent1"/>
            </a:solidFill>
            <a:prstDash val="solid"/>
          </a:ln>
        </p:spPr>
      </p:sp>
      <p:sp>
        <p:nvSpPr>
          <p:cNvPr id="30" name="Visual 9"/>
          <p:cNvSpPr/>
          <p:nvPr/>
        </p:nvSpPr>
        <p:spPr>
          <a:xfrm>
            <a:off x="6752844" y="2120265"/>
            <a:ext cx="1840230" cy="600075"/>
          </a:xfrm>
          <a:prstGeom prst="rect">
            <a:avLst/>
          </a:prstGeom>
          <a:solidFill>
            <a:schemeClr val="bg1"/>
          </a:solidFill>
          <a:ln w="9525">
            <a:solidFill>
              <a:schemeClr val="accent1"/>
            </a:solidFill>
            <a:prstDash val="solid"/>
          </a:ln>
        </p:spPr>
      </p:sp>
      <p:sp>
        <p:nvSpPr>
          <p:cNvPr id="31" name="Visual 10"/>
          <p:cNvSpPr/>
          <p:nvPr/>
        </p:nvSpPr>
        <p:spPr>
          <a:xfrm>
            <a:off x="6752844" y="2752344"/>
            <a:ext cx="904113" cy="640080"/>
          </a:xfrm>
          <a:prstGeom prst="rect">
            <a:avLst/>
          </a:prstGeom>
          <a:solidFill>
            <a:schemeClr val="bg1"/>
          </a:solidFill>
          <a:ln w="9525">
            <a:solidFill>
              <a:schemeClr val="accent1"/>
            </a:solidFill>
            <a:prstDash val="solid"/>
          </a:ln>
        </p:spPr>
      </p:sp>
      <p:sp>
        <p:nvSpPr>
          <p:cNvPr id="32" name="Visual 11"/>
          <p:cNvSpPr/>
          <p:nvPr/>
        </p:nvSpPr>
        <p:spPr>
          <a:xfrm>
            <a:off x="7688961" y="2752344"/>
            <a:ext cx="904113" cy="640080"/>
          </a:xfrm>
          <a:prstGeom prst="rect">
            <a:avLst/>
          </a:prstGeom>
          <a:solidFill>
            <a:schemeClr val="bg1"/>
          </a:solidFill>
          <a:ln w="9525">
            <a:solidFill>
              <a:schemeClr val="accent1"/>
            </a:solidFill>
            <a:prstDash val="solid"/>
          </a:ln>
        </p:spPr>
      </p:sp>
      <p:sp>
        <p:nvSpPr>
          <p:cNvPr id="33" name="Text 30"/>
          <p:cNvSpPr txBox="1"/>
          <p:nvPr/>
        </p:nvSpPr>
        <p:spPr>
          <a:xfrm>
            <a:off x="457200" y="3611880"/>
            <a:ext cx="393192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Page 1: Hospital Overview</a:t>
            </a:r>
            <a:endParaRPr lang="en-US" sz="1600" dirty="0"/>
          </a:p>
        </p:txBody>
      </p:sp>
      <p:sp>
        <p:nvSpPr>
          <p:cNvPr id="34" name="Text 31"/>
          <p:cNvSpPr txBox="1"/>
          <p:nvPr/>
        </p:nvSpPr>
        <p:spPr>
          <a:xfrm>
            <a:off x="457200" y="3913632"/>
            <a:ext cx="3931920" cy="502920"/>
          </a:xfrm>
          <a:prstGeom prst="rect">
            <a:avLst/>
          </a:prstGeom>
          <a:noFill/>
          <a:ln/>
        </p:spPr>
        <p:txBody>
          <a:bodyPr wrap="square" lIns="0" tIns="0" rIns="0" bIns="0" rtlCol="0" anchor="t"/>
          <a:lstStyle/>
          <a:p>
            <a:pPr indent="0" marL="0">
              <a:buNone/>
            </a:pPr>
            <a:r>
              <a:rPr lang="en-US" sz="1400" dirty="0">
                <a:solidFill>
                  <a:srgbClr val="5B6B7B"/>
                </a:solidFill>
              </a:rPr>
              <a:t>4 slicers, 6 KPI cards, 2 trend charts, 3 breakdown charts</a:t>
            </a:r>
            <a:endParaRPr lang="en-US" sz="1400" dirty="0"/>
          </a:p>
        </p:txBody>
      </p:sp>
      <p:sp>
        <p:nvSpPr>
          <p:cNvPr id="35" name="Text 32"/>
          <p:cNvSpPr txBox="1"/>
          <p:nvPr/>
        </p:nvSpPr>
        <p:spPr>
          <a:xfrm>
            <a:off x="4754880" y="3611880"/>
            <a:ext cx="393192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Page 2: Doctor &amp; Patient Analytics</a:t>
            </a:r>
            <a:endParaRPr lang="en-US" sz="1600" dirty="0"/>
          </a:p>
        </p:txBody>
      </p:sp>
      <p:sp>
        <p:nvSpPr>
          <p:cNvPr id="36" name="Text 33"/>
          <p:cNvSpPr txBox="1"/>
          <p:nvPr/>
        </p:nvSpPr>
        <p:spPr>
          <a:xfrm>
            <a:off x="4754880" y="3913632"/>
            <a:ext cx="3931920" cy="502920"/>
          </a:xfrm>
          <a:prstGeom prst="rect">
            <a:avLst/>
          </a:prstGeom>
          <a:noFill/>
          <a:ln/>
        </p:spPr>
        <p:txBody>
          <a:bodyPr wrap="square" lIns="0" tIns="0" rIns="0" bIns="0" rtlCol="0" anchor="t"/>
          <a:lstStyle/>
          <a:p>
            <a:pPr indent="0" marL="0">
              <a:buNone/>
            </a:pPr>
            <a:r>
              <a:rPr lang="en-US" sz="1400" dirty="0">
                <a:solidFill>
                  <a:srgbClr val="5B6B7B"/>
                </a:solidFill>
              </a:rPr>
              <a:t>3 slicers, 3 KPI cards, 4 charts on doctors and patients</a:t>
            </a:r>
            <a:endParaRPr lang="en-US" sz="1400" dirty="0"/>
          </a:p>
        </p:txBody>
      </p:sp>
      <p:sp>
        <p:nvSpPr>
          <p:cNvPr id="37" name="Text 34"/>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200" i="1" dirty="0">
                <a:solidFill>
                  <a:schemeClr val="tx2"/>
                </a:solidFill>
              </a:rPr>
              <a:t>Amber = slicers   |   Teal = KPI cards   |   Outlined = charts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KPI cards: the headline numbers</a:t>
            </a:r>
            <a:endParaRPr lang="en-US" sz="2800" dirty="0"/>
          </a:p>
        </p:txBody>
      </p:sp>
      <p:sp>
        <p:nvSpPr>
          <p:cNvPr id="4" name="KPI card 1"/>
          <p:cNvSpPr/>
          <p:nvPr/>
        </p:nvSpPr>
        <p:spPr>
          <a:xfrm>
            <a:off x="457200" y="1188720"/>
            <a:ext cx="2606040" cy="1371600"/>
          </a:xfrm>
          <a:prstGeom prst="roundRect">
            <a:avLst>
              <a:gd name="adj" fmla="val 6667"/>
            </a:avLst>
          </a:prstGeom>
          <a:solidFill>
            <a:schemeClr val="bg2"/>
          </a:solidFill>
          <a:ln/>
        </p:spPr>
      </p:sp>
      <p:sp>
        <p:nvSpPr>
          <p:cNvPr id="5" name="KPI dot 1"/>
          <p:cNvSpPr/>
          <p:nvPr/>
        </p:nvSpPr>
        <p:spPr>
          <a:xfrm>
            <a:off x="640080" y="1371600"/>
            <a:ext cx="182880" cy="182880"/>
          </a:xfrm>
          <a:prstGeom prst="ellipse">
            <a:avLst/>
          </a:prstGeom>
          <a:solidFill>
            <a:schemeClr val="accent1"/>
          </a:solidFill>
          <a:ln/>
        </p:spPr>
      </p:sp>
      <p:sp>
        <p:nvSpPr>
          <p:cNvPr id="6" name="Text 3"/>
          <p:cNvSpPr txBox="1"/>
          <p:nvPr/>
        </p:nvSpPr>
        <p:spPr>
          <a:xfrm>
            <a:off x="914400" y="1316736"/>
            <a:ext cx="2057400" cy="292608"/>
          </a:xfrm>
          <a:prstGeom prst="rect">
            <a:avLst/>
          </a:prstGeom>
          <a:noFill/>
          <a:ln/>
        </p:spPr>
        <p:txBody>
          <a:bodyPr wrap="square" lIns="0" tIns="0" rIns="0" bIns="0" rtlCol="0" anchor="ctr"/>
          <a:lstStyle/>
          <a:p>
            <a:pPr indent="0" marL="0">
              <a:buNone/>
            </a:pPr>
            <a:r>
              <a:rPr lang="en-US" sz="1400" b="1" dirty="0">
                <a:solidFill>
                  <a:schemeClr val="tx1"/>
                </a:solidFill>
              </a:rPr>
              <a:t>Total Appointments</a:t>
            </a:r>
            <a:endParaRPr lang="en-US" sz="1400" dirty="0"/>
          </a:p>
        </p:txBody>
      </p:sp>
      <p:sp>
        <p:nvSpPr>
          <p:cNvPr id="7" name="Text 4"/>
          <p:cNvSpPr txBox="1"/>
          <p:nvPr/>
        </p:nvSpPr>
        <p:spPr>
          <a:xfrm>
            <a:off x="640080" y="1645920"/>
            <a:ext cx="2286000" cy="50292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3,000</a:t>
            </a:r>
            <a:endParaRPr lang="en-US" sz="3000" dirty="0"/>
          </a:p>
        </p:txBody>
      </p:sp>
      <p:sp>
        <p:nvSpPr>
          <p:cNvPr id="8" name="Text 5"/>
          <p:cNvSpPr txBox="1"/>
          <p:nvPr/>
        </p:nvSpPr>
        <p:spPr>
          <a:xfrm>
            <a:off x="640080" y="2167128"/>
            <a:ext cx="2286000" cy="347472"/>
          </a:xfrm>
          <a:prstGeom prst="rect">
            <a:avLst/>
          </a:prstGeom>
          <a:noFill/>
          <a:ln/>
        </p:spPr>
        <p:txBody>
          <a:bodyPr wrap="square" lIns="0" tIns="0" rIns="0" bIns="0" rtlCol="0" anchor="t"/>
          <a:lstStyle/>
          <a:p>
            <a:pPr indent="0" marL="0">
              <a:buNone/>
            </a:pPr>
            <a:r>
              <a:rPr lang="en-US" sz="1200" dirty="0">
                <a:solidFill>
                  <a:srgbClr val="5B6B7B"/>
                </a:solidFill>
              </a:rPr>
              <a:t>Demand baseline, Jan 2024 to Dec 2026</a:t>
            </a:r>
            <a:endParaRPr lang="en-US" sz="1200" dirty="0"/>
          </a:p>
        </p:txBody>
      </p:sp>
      <p:sp>
        <p:nvSpPr>
          <p:cNvPr id="9" name="KPI card 2"/>
          <p:cNvSpPr/>
          <p:nvPr/>
        </p:nvSpPr>
        <p:spPr>
          <a:xfrm>
            <a:off x="3246120" y="1188720"/>
            <a:ext cx="2606040" cy="1371600"/>
          </a:xfrm>
          <a:prstGeom prst="roundRect">
            <a:avLst>
              <a:gd name="adj" fmla="val 6667"/>
            </a:avLst>
          </a:prstGeom>
          <a:solidFill>
            <a:schemeClr val="bg2"/>
          </a:solidFill>
          <a:ln/>
        </p:spPr>
      </p:sp>
      <p:sp>
        <p:nvSpPr>
          <p:cNvPr id="10" name="KPI dot 2"/>
          <p:cNvSpPr/>
          <p:nvPr/>
        </p:nvSpPr>
        <p:spPr>
          <a:xfrm>
            <a:off x="3429000" y="1371600"/>
            <a:ext cx="182880" cy="182880"/>
          </a:xfrm>
          <a:prstGeom prst="ellipse">
            <a:avLst/>
          </a:prstGeom>
          <a:solidFill>
            <a:schemeClr val="accent3"/>
          </a:solidFill>
          <a:ln/>
        </p:spPr>
      </p:sp>
      <p:sp>
        <p:nvSpPr>
          <p:cNvPr id="11" name="Text 8"/>
          <p:cNvSpPr txBox="1"/>
          <p:nvPr/>
        </p:nvSpPr>
        <p:spPr>
          <a:xfrm>
            <a:off x="3703320" y="1316736"/>
            <a:ext cx="2057400" cy="292608"/>
          </a:xfrm>
          <a:prstGeom prst="rect">
            <a:avLst/>
          </a:prstGeom>
          <a:noFill/>
          <a:ln/>
        </p:spPr>
        <p:txBody>
          <a:bodyPr wrap="square" lIns="0" tIns="0" rIns="0" bIns="0" rtlCol="0" anchor="ctr"/>
          <a:lstStyle/>
          <a:p>
            <a:pPr indent="0" marL="0">
              <a:buNone/>
            </a:pPr>
            <a:r>
              <a:rPr lang="en-US" sz="1400" b="1" dirty="0">
                <a:solidFill>
                  <a:schemeClr val="tx1"/>
                </a:solidFill>
              </a:rPr>
              <a:t>Completed Appointments</a:t>
            </a:r>
            <a:endParaRPr lang="en-US" sz="1400" dirty="0"/>
          </a:p>
        </p:txBody>
      </p:sp>
      <p:sp>
        <p:nvSpPr>
          <p:cNvPr id="12" name="Text 9"/>
          <p:cNvSpPr txBox="1"/>
          <p:nvPr/>
        </p:nvSpPr>
        <p:spPr>
          <a:xfrm>
            <a:off x="3429000" y="1645920"/>
            <a:ext cx="2286000" cy="50292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2,189</a:t>
            </a:r>
            <a:endParaRPr lang="en-US" sz="3000" dirty="0"/>
          </a:p>
        </p:txBody>
      </p:sp>
      <p:sp>
        <p:nvSpPr>
          <p:cNvPr id="13" name="Text 10"/>
          <p:cNvSpPr txBox="1"/>
          <p:nvPr/>
        </p:nvSpPr>
        <p:spPr>
          <a:xfrm>
            <a:off x="3429000" y="2167128"/>
            <a:ext cx="2286000" cy="347472"/>
          </a:xfrm>
          <a:prstGeom prst="rect">
            <a:avLst/>
          </a:prstGeom>
          <a:noFill/>
          <a:ln/>
        </p:spPr>
        <p:txBody>
          <a:bodyPr wrap="square" lIns="0" tIns="0" rIns="0" bIns="0" rtlCol="0" anchor="t"/>
          <a:lstStyle/>
          <a:p>
            <a:pPr indent="0" marL="0">
              <a:buNone/>
            </a:pPr>
            <a:r>
              <a:rPr lang="en-US" sz="1200" dirty="0">
                <a:solidFill>
                  <a:srgbClr val="5B6B7B"/>
                </a:solidFill>
              </a:rPr>
              <a:t>73% of all bookings earn revenue</a:t>
            </a:r>
            <a:endParaRPr lang="en-US" sz="1200" dirty="0"/>
          </a:p>
        </p:txBody>
      </p:sp>
      <p:sp>
        <p:nvSpPr>
          <p:cNvPr id="14" name="KPI card 3"/>
          <p:cNvSpPr/>
          <p:nvPr/>
        </p:nvSpPr>
        <p:spPr>
          <a:xfrm>
            <a:off x="6035040" y="1188720"/>
            <a:ext cx="2606040" cy="1371600"/>
          </a:xfrm>
          <a:prstGeom prst="roundRect">
            <a:avLst>
              <a:gd name="adj" fmla="val 6667"/>
            </a:avLst>
          </a:prstGeom>
          <a:solidFill>
            <a:schemeClr val="bg2"/>
          </a:solidFill>
          <a:ln/>
        </p:spPr>
      </p:sp>
      <p:sp>
        <p:nvSpPr>
          <p:cNvPr id="15" name="KPI dot 3"/>
          <p:cNvSpPr/>
          <p:nvPr/>
        </p:nvSpPr>
        <p:spPr>
          <a:xfrm>
            <a:off x="6217920" y="1371600"/>
            <a:ext cx="182880" cy="182880"/>
          </a:xfrm>
          <a:prstGeom prst="ellipse">
            <a:avLst/>
          </a:prstGeom>
          <a:solidFill>
            <a:schemeClr val="accent1"/>
          </a:solidFill>
          <a:ln/>
        </p:spPr>
      </p:sp>
      <p:sp>
        <p:nvSpPr>
          <p:cNvPr id="16" name="Text 13"/>
          <p:cNvSpPr txBox="1"/>
          <p:nvPr/>
        </p:nvSpPr>
        <p:spPr>
          <a:xfrm>
            <a:off x="6492240" y="1316736"/>
            <a:ext cx="2057400" cy="292608"/>
          </a:xfrm>
          <a:prstGeom prst="rect">
            <a:avLst/>
          </a:prstGeom>
          <a:noFill/>
          <a:ln/>
        </p:spPr>
        <p:txBody>
          <a:bodyPr wrap="square" lIns="0" tIns="0" rIns="0" bIns="0" rtlCol="0" anchor="ctr"/>
          <a:lstStyle/>
          <a:p>
            <a:pPr indent="0" marL="0">
              <a:buNone/>
            </a:pPr>
            <a:r>
              <a:rPr lang="en-US" sz="1400" b="1" dirty="0">
                <a:solidFill>
                  <a:schemeClr val="tx1"/>
                </a:solidFill>
              </a:rPr>
              <a:t>Total Revenue</a:t>
            </a:r>
            <a:endParaRPr lang="en-US" sz="1400" dirty="0"/>
          </a:p>
        </p:txBody>
      </p:sp>
      <p:sp>
        <p:nvSpPr>
          <p:cNvPr id="17" name="Text 14"/>
          <p:cNvSpPr txBox="1"/>
          <p:nvPr/>
        </p:nvSpPr>
        <p:spPr>
          <a:xfrm>
            <a:off x="6217920" y="1645920"/>
            <a:ext cx="2286000" cy="50292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₹25.49 L</a:t>
            </a:r>
            <a:endParaRPr lang="en-US" sz="3000" dirty="0"/>
          </a:p>
        </p:txBody>
      </p:sp>
      <p:sp>
        <p:nvSpPr>
          <p:cNvPr id="18" name="Text 15"/>
          <p:cNvSpPr txBox="1"/>
          <p:nvPr/>
        </p:nvSpPr>
        <p:spPr>
          <a:xfrm>
            <a:off x="6217920" y="2167128"/>
            <a:ext cx="2286000" cy="347472"/>
          </a:xfrm>
          <a:prstGeom prst="rect">
            <a:avLst/>
          </a:prstGeom>
          <a:noFill/>
          <a:ln/>
        </p:spPr>
        <p:txBody>
          <a:bodyPr wrap="square" lIns="0" tIns="0" rIns="0" bIns="0" rtlCol="0" anchor="t"/>
          <a:lstStyle/>
          <a:p>
            <a:pPr indent="0" marL="0">
              <a:buNone/>
            </a:pPr>
            <a:r>
              <a:rPr lang="en-US" sz="1200" dirty="0">
                <a:solidFill>
                  <a:srgbClr val="5B6B7B"/>
                </a:solidFill>
              </a:rPr>
              <a:t>Completed visits only (₹2,548,650)</a:t>
            </a:r>
            <a:endParaRPr lang="en-US" sz="1200" dirty="0"/>
          </a:p>
        </p:txBody>
      </p:sp>
      <p:sp>
        <p:nvSpPr>
          <p:cNvPr id="19" name="KPI card 4"/>
          <p:cNvSpPr/>
          <p:nvPr/>
        </p:nvSpPr>
        <p:spPr>
          <a:xfrm>
            <a:off x="457200" y="2697480"/>
            <a:ext cx="2606040" cy="1371600"/>
          </a:xfrm>
          <a:prstGeom prst="roundRect">
            <a:avLst>
              <a:gd name="adj" fmla="val 6667"/>
            </a:avLst>
          </a:prstGeom>
          <a:solidFill>
            <a:schemeClr val="bg2"/>
          </a:solidFill>
          <a:ln/>
        </p:spPr>
      </p:sp>
      <p:sp>
        <p:nvSpPr>
          <p:cNvPr id="20" name="KPI dot 4"/>
          <p:cNvSpPr/>
          <p:nvPr/>
        </p:nvSpPr>
        <p:spPr>
          <a:xfrm>
            <a:off x="640080" y="2880360"/>
            <a:ext cx="182880" cy="182880"/>
          </a:xfrm>
          <a:prstGeom prst="ellipse">
            <a:avLst/>
          </a:prstGeom>
          <a:solidFill>
            <a:schemeClr val="accent3"/>
          </a:solidFill>
          <a:ln/>
        </p:spPr>
      </p:sp>
      <p:sp>
        <p:nvSpPr>
          <p:cNvPr id="21" name="Text 18"/>
          <p:cNvSpPr txBox="1"/>
          <p:nvPr/>
        </p:nvSpPr>
        <p:spPr>
          <a:xfrm>
            <a:off x="914400" y="2825496"/>
            <a:ext cx="2057400" cy="292608"/>
          </a:xfrm>
          <a:prstGeom prst="rect">
            <a:avLst/>
          </a:prstGeom>
          <a:noFill/>
          <a:ln/>
        </p:spPr>
        <p:txBody>
          <a:bodyPr wrap="square" lIns="0" tIns="0" rIns="0" bIns="0" rtlCol="0" anchor="ctr"/>
          <a:lstStyle/>
          <a:p>
            <a:pPr indent="0" marL="0">
              <a:buNone/>
            </a:pPr>
            <a:r>
              <a:rPr lang="en-US" sz="1400" b="1" dirty="0">
                <a:solidFill>
                  <a:schemeClr val="tx1"/>
                </a:solidFill>
              </a:rPr>
              <a:t>Average Consultation Fee</a:t>
            </a:r>
            <a:endParaRPr lang="en-US" sz="1400" dirty="0"/>
          </a:p>
        </p:txBody>
      </p:sp>
      <p:sp>
        <p:nvSpPr>
          <p:cNvPr id="22" name="Text 19"/>
          <p:cNvSpPr txBox="1"/>
          <p:nvPr/>
        </p:nvSpPr>
        <p:spPr>
          <a:xfrm>
            <a:off x="640080" y="3154680"/>
            <a:ext cx="2286000" cy="50292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₹1,164</a:t>
            </a:r>
            <a:endParaRPr lang="en-US" sz="3000" dirty="0"/>
          </a:p>
        </p:txBody>
      </p:sp>
      <p:sp>
        <p:nvSpPr>
          <p:cNvPr id="23" name="Text 20"/>
          <p:cNvSpPr txBox="1"/>
          <p:nvPr/>
        </p:nvSpPr>
        <p:spPr>
          <a:xfrm>
            <a:off x="640080" y="3675888"/>
            <a:ext cx="2286000" cy="347472"/>
          </a:xfrm>
          <a:prstGeom prst="rect">
            <a:avLst/>
          </a:prstGeom>
          <a:noFill/>
          <a:ln/>
        </p:spPr>
        <p:txBody>
          <a:bodyPr wrap="square" lIns="0" tIns="0" rIns="0" bIns="0" rtlCol="0" anchor="t"/>
          <a:lstStyle/>
          <a:p>
            <a:pPr indent="0" marL="0">
              <a:buNone/>
            </a:pPr>
            <a:r>
              <a:rPr lang="en-US" sz="1200" dirty="0">
                <a:solidFill>
                  <a:srgbClr val="5B6B7B"/>
                </a:solidFill>
              </a:rPr>
              <a:t>Revenue per completed visit</a:t>
            </a:r>
            <a:endParaRPr lang="en-US" sz="1200" dirty="0"/>
          </a:p>
        </p:txBody>
      </p:sp>
      <p:sp>
        <p:nvSpPr>
          <p:cNvPr id="24" name="KPI card 5"/>
          <p:cNvSpPr/>
          <p:nvPr/>
        </p:nvSpPr>
        <p:spPr>
          <a:xfrm>
            <a:off x="3246120" y="2697480"/>
            <a:ext cx="2606040" cy="1371600"/>
          </a:xfrm>
          <a:prstGeom prst="roundRect">
            <a:avLst>
              <a:gd name="adj" fmla="val 6667"/>
            </a:avLst>
          </a:prstGeom>
          <a:solidFill>
            <a:schemeClr val="bg2"/>
          </a:solidFill>
          <a:ln/>
        </p:spPr>
      </p:sp>
      <p:sp>
        <p:nvSpPr>
          <p:cNvPr id="25" name="KPI dot 5"/>
          <p:cNvSpPr/>
          <p:nvPr/>
        </p:nvSpPr>
        <p:spPr>
          <a:xfrm>
            <a:off x="3429000" y="2880360"/>
            <a:ext cx="182880" cy="182880"/>
          </a:xfrm>
          <a:prstGeom prst="ellipse">
            <a:avLst/>
          </a:prstGeom>
          <a:solidFill>
            <a:schemeClr val="accent4"/>
          </a:solidFill>
          <a:ln/>
        </p:spPr>
      </p:sp>
      <p:sp>
        <p:nvSpPr>
          <p:cNvPr id="26" name="Text 23"/>
          <p:cNvSpPr txBox="1"/>
          <p:nvPr/>
        </p:nvSpPr>
        <p:spPr>
          <a:xfrm>
            <a:off x="3703320" y="2825496"/>
            <a:ext cx="2057400" cy="292608"/>
          </a:xfrm>
          <a:prstGeom prst="rect">
            <a:avLst/>
          </a:prstGeom>
          <a:noFill/>
          <a:ln/>
        </p:spPr>
        <p:txBody>
          <a:bodyPr wrap="square" lIns="0" tIns="0" rIns="0" bIns="0" rtlCol="0" anchor="ctr"/>
          <a:lstStyle/>
          <a:p>
            <a:pPr indent="0" marL="0">
              <a:buNone/>
            </a:pPr>
            <a:r>
              <a:rPr lang="en-US" sz="1400" b="1" dirty="0">
                <a:solidFill>
                  <a:schemeClr val="tx1"/>
                </a:solidFill>
              </a:rPr>
              <a:t>No Show Rate</a:t>
            </a:r>
            <a:endParaRPr lang="en-US" sz="1400" dirty="0"/>
          </a:p>
        </p:txBody>
      </p:sp>
      <p:sp>
        <p:nvSpPr>
          <p:cNvPr id="27" name="Text 24"/>
          <p:cNvSpPr txBox="1"/>
          <p:nvPr/>
        </p:nvSpPr>
        <p:spPr>
          <a:xfrm>
            <a:off x="3429000" y="3154680"/>
            <a:ext cx="2286000" cy="50292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9.1%</a:t>
            </a:r>
            <a:endParaRPr lang="en-US" sz="3000" dirty="0"/>
          </a:p>
        </p:txBody>
      </p:sp>
      <p:sp>
        <p:nvSpPr>
          <p:cNvPr id="28" name="Text 25"/>
          <p:cNvSpPr txBox="1"/>
          <p:nvPr/>
        </p:nvSpPr>
        <p:spPr>
          <a:xfrm>
            <a:off x="3429000" y="3675888"/>
            <a:ext cx="2286000" cy="347472"/>
          </a:xfrm>
          <a:prstGeom prst="rect">
            <a:avLst/>
          </a:prstGeom>
          <a:noFill/>
          <a:ln/>
        </p:spPr>
        <p:txBody>
          <a:bodyPr wrap="square" lIns="0" tIns="0" rIns="0" bIns="0" rtlCol="0" anchor="t"/>
          <a:lstStyle/>
          <a:p>
            <a:pPr indent="0" marL="0">
              <a:buNone/>
            </a:pPr>
            <a:r>
              <a:rPr lang="en-US" sz="1200" dirty="0">
                <a:solidFill>
                  <a:srgbClr val="5B6B7B"/>
                </a:solidFill>
              </a:rPr>
              <a:t>253 patients booked but never arrived</a:t>
            </a:r>
            <a:endParaRPr lang="en-US" sz="1200" dirty="0"/>
          </a:p>
        </p:txBody>
      </p:sp>
      <p:sp>
        <p:nvSpPr>
          <p:cNvPr id="29" name="KPI card 6"/>
          <p:cNvSpPr/>
          <p:nvPr/>
        </p:nvSpPr>
        <p:spPr>
          <a:xfrm>
            <a:off x="6035040" y="2697480"/>
            <a:ext cx="2606040" cy="1371600"/>
          </a:xfrm>
          <a:prstGeom prst="roundRect">
            <a:avLst>
              <a:gd name="adj" fmla="val 6667"/>
            </a:avLst>
          </a:prstGeom>
          <a:solidFill>
            <a:schemeClr val="bg2"/>
          </a:solidFill>
          <a:ln/>
        </p:spPr>
      </p:sp>
      <p:sp>
        <p:nvSpPr>
          <p:cNvPr id="30" name="KPI dot 6"/>
          <p:cNvSpPr/>
          <p:nvPr/>
        </p:nvSpPr>
        <p:spPr>
          <a:xfrm>
            <a:off x="6217920" y="2880360"/>
            <a:ext cx="182880" cy="182880"/>
          </a:xfrm>
          <a:prstGeom prst="ellipse">
            <a:avLst/>
          </a:prstGeom>
          <a:solidFill>
            <a:schemeClr val="accent4"/>
          </a:solidFill>
          <a:ln/>
        </p:spPr>
      </p:sp>
      <p:sp>
        <p:nvSpPr>
          <p:cNvPr id="31" name="Text 28"/>
          <p:cNvSpPr txBox="1"/>
          <p:nvPr/>
        </p:nvSpPr>
        <p:spPr>
          <a:xfrm>
            <a:off x="6492240" y="2825496"/>
            <a:ext cx="2057400" cy="292608"/>
          </a:xfrm>
          <a:prstGeom prst="rect">
            <a:avLst/>
          </a:prstGeom>
          <a:noFill/>
          <a:ln/>
        </p:spPr>
        <p:txBody>
          <a:bodyPr wrap="square" lIns="0" tIns="0" rIns="0" bIns="0" rtlCol="0" anchor="ctr"/>
          <a:lstStyle/>
          <a:p>
            <a:pPr indent="0" marL="0">
              <a:buNone/>
            </a:pPr>
            <a:r>
              <a:rPr lang="en-US" sz="1400" b="1" dirty="0">
                <a:solidFill>
                  <a:schemeClr val="tx1"/>
                </a:solidFill>
              </a:rPr>
              <a:t>Cancellation Rate</a:t>
            </a:r>
            <a:endParaRPr lang="en-US" sz="1400" dirty="0"/>
          </a:p>
        </p:txBody>
      </p:sp>
      <p:sp>
        <p:nvSpPr>
          <p:cNvPr id="32" name="Text 29"/>
          <p:cNvSpPr txBox="1"/>
          <p:nvPr/>
        </p:nvSpPr>
        <p:spPr>
          <a:xfrm>
            <a:off x="6217920" y="3154680"/>
            <a:ext cx="2286000" cy="50292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12.1%</a:t>
            </a:r>
            <a:endParaRPr lang="en-US" sz="3000" dirty="0"/>
          </a:p>
        </p:txBody>
      </p:sp>
      <p:sp>
        <p:nvSpPr>
          <p:cNvPr id="33" name="Text 30"/>
          <p:cNvSpPr txBox="1"/>
          <p:nvPr/>
        </p:nvSpPr>
        <p:spPr>
          <a:xfrm>
            <a:off x="6217920" y="3675888"/>
            <a:ext cx="2286000" cy="347472"/>
          </a:xfrm>
          <a:prstGeom prst="rect">
            <a:avLst/>
          </a:prstGeom>
          <a:noFill/>
          <a:ln/>
        </p:spPr>
        <p:txBody>
          <a:bodyPr wrap="square" lIns="0" tIns="0" rIns="0" bIns="0" rtlCol="0" anchor="t"/>
          <a:lstStyle/>
          <a:p>
            <a:pPr indent="0" marL="0">
              <a:buNone/>
            </a:pPr>
            <a:r>
              <a:rPr lang="en-US" sz="1200" dirty="0">
                <a:solidFill>
                  <a:srgbClr val="5B6B7B"/>
                </a:solidFill>
              </a:rPr>
              <a:t>336 bookings cancelled before the visit</a:t>
            </a:r>
            <a:endParaRPr lang="en-US" sz="1200" dirty="0"/>
          </a:p>
        </p:txBody>
      </p:sp>
      <p:sp>
        <p:nvSpPr>
          <p:cNvPr id="34" name="Takeaway strip"/>
          <p:cNvSpPr/>
          <p:nvPr/>
        </p:nvSpPr>
        <p:spPr>
          <a:xfrm>
            <a:off x="457200" y="4251960"/>
            <a:ext cx="8229600" cy="457200"/>
          </a:xfrm>
          <a:prstGeom prst="roundRect">
            <a:avLst>
              <a:gd name="adj" fmla="val 20000"/>
            </a:avLst>
          </a:prstGeom>
          <a:solidFill>
            <a:schemeClr val="bg2"/>
          </a:solidFill>
          <a:ln/>
        </p:spPr>
      </p:sp>
      <p:sp>
        <p:nvSpPr>
          <p:cNvPr id="35" name="Text 32"/>
          <p:cNvSpPr txBox="1"/>
          <p:nvPr/>
        </p:nvSpPr>
        <p:spPr>
          <a:xfrm>
            <a:off x="640080" y="4251960"/>
            <a:ext cx="7863840" cy="457200"/>
          </a:xfrm>
          <a:prstGeom prst="rect">
            <a:avLst/>
          </a:prstGeom>
          <a:noFill/>
          <a:ln/>
        </p:spPr>
        <p:txBody>
          <a:bodyPr wrap="square" lIns="0" tIns="0" rIns="0" bIns="0" rtlCol="0" anchor="ctr"/>
          <a:lstStyle/>
          <a:p>
            <a:pPr indent="0" marL="0">
              <a:buNone/>
            </a:pPr>
            <a:r>
              <a:rPr lang="en-US" sz="1400" b="1" dirty="0">
                <a:solidFill>
                  <a:srgbClr val="F2545B"/>
                </a:solidFill>
              </a:rPr>
              <a:t>Decision: </a:t>
            </a:r>
            <a:pPr indent="0" marL="0">
              <a:buNone/>
            </a:pPr>
            <a:r>
              <a:rPr lang="en-US" sz="1400" dirty="0">
                <a:solidFill>
                  <a:schemeClr val="tx1"/>
                </a:solidFill>
              </a:rPr>
              <a:t>21.2% of closed bookings are lost. Each 1-point cut recovers about 28 visits, roughly ₹32K.</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Appointments trend by year</a:t>
            </a:r>
            <a:endParaRPr lang="en-US" sz="2800" dirty="0"/>
          </a:p>
        </p:txBody>
      </p:sp>
      <p:graphicFrame>
        <p:nvGraphicFramePr>
          <p:cNvPr id="4" name="Chart 0" descr=""/>
          <p:cNvGraphicFramePr/>
          <p:nvPr/>
        </p:nvGraphicFramePr>
        <p:xfrm>
          <a:off x="457200" y="1234440"/>
          <a:ext cx="4846320" cy="3429000"/>
        </p:xfrm>
        <a:graphic xmlns:a="http://schemas.openxmlformats.org/drawingml/2006/main">
          <a:graphicData uri="http://schemas.openxmlformats.org/drawingml/2006/chart">
            <c:chart xmlns:c="http://schemas.openxmlformats.org/drawingml/2006/chart" r:id="rId1"/>
          </a:graphicData>
        </a:graphic>
      </p:graphicFrame>
      <p:sp>
        <p:nvSpPr>
          <p:cNvPr id="5" name="Insight card"/>
          <p:cNvSpPr/>
          <p:nvPr/>
        </p:nvSpPr>
        <p:spPr>
          <a:xfrm>
            <a:off x="5486400" y="1234440"/>
            <a:ext cx="3200400" cy="1645920"/>
          </a:xfrm>
          <a:prstGeom prst="roundRect">
            <a:avLst>
              <a:gd name="adj" fmla="val 5556"/>
            </a:avLst>
          </a:prstGeom>
          <a:solidFill>
            <a:schemeClr val="bg2"/>
          </a:solidFill>
          <a:ln/>
        </p:spPr>
      </p:sp>
      <p:sp>
        <p:nvSpPr>
          <p:cNvPr id="6" name="Text 2"/>
          <p:cNvSpPr txBox="1"/>
          <p:nvPr/>
        </p:nvSpPr>
        <p:spPr>
          <a:xfrm>
            <a:off x="5669280" y="1344168"/>
            <a:ext cx="2834640" cy="256032"/>
          </a:xfrm>
          <a:prstGeom prst="rect">
            <a:avLst/>
          </a:prstGeom>
          <a:noFill/>
          <a:ln/>
        </p:spPr>
        <p:txBody>
          <a:bodyPr wrap="square" lIns="0" tIns="0" rIns="0" bIns="0" rtlCol="0" anchor="t"/>
          <a:lstStyle/>
          <a:p>
            <a:pPr indent="0" marL="0">
              <a:buNone/>
            </a:pPr>
            <a:r>
              <a:rPr lang="en-US" sz="1200" b="1" spc="200" kern="0" dirty="0">
                <a:solidFill>
                  <a:schemeClr val="accent3"/>
                </a:solidFill>
              </a:rPr>
              <a:t>INSIGHT</a:t>
            </a:r>
            <a:endParaRPr lang="en-US" sz="1200" dirty="0"/>
          </a:p>
        </p:txBody>
      </p:sp>
      <p:sp>
        <p:nvSpPr>
          <p:cNvPr id="7" name="Text 3"/>
          <p:cNvSpPr txBox="1"/>
          <p:nvPr/>
        </p:nvSpPr>
        <p:spPr>
          <a:xfrm>
            <a:off x="5669280" y="1618488"/>
            <a:ext cx="2834640" cy="1188720"/>
          </a:xfrm>
          <a:prstGeom prst="rect">
            <a:avLst/>
          </a:prstGeom>
          <a:noFill/>
          <a:ln/>
        </p:spPr>
        <p:txBody>
          <a:bodyPr wrap="square" lIns="0" tIns="0" rIns="0" bIns="0" rtlCol="0" anchor="t"/>
          <a:lstStyle/>
          <a:p>
            <a:pPr indent="0" marL="0">
              <a:buNone/>
            </a:pPr>
            <a:r>
              <a:rPr lang="en-US" sz="1400" dirty="0">
                <a:solidFill>
                  <a:schemeClr val="tx1"/>
                </a:solidFill>
              </a:rPr>
              <a:t>Appointments grew from 646 (2024) to 934 (2025) and 1,420 (2026): up 45%, then 52%. Late 2026 dips as future slots are unbooked.</a:t>
            </a:r>
            <a:endParaRPr lang="en-US" sz="1400" dirty="0"/>
          </a:p>
        </p:txBody>
      </p:sp>
      <p:sp>
        <p:nvSpPr>
          <p:cNvPr id="8" name="Decision card"/>
          <p:cNvSpPr/>
          <p:nvPr/>
        </p:nvSpPr>
        <p:spPr>
          <a:xfrm>
            <a:off x="5486400" y="3017520"/>
            <a:ext cx="3200400" cy="1645920"/>
          </a:xfrm>
          <a:prstGeom prst="roundRect">
            <a:avLst>
              <a:gd name="adj" fmla="val 5556"/>
            </a:avLst>
          </a:prstGeom>
          <a:solidFill>
            <a:schemeClr val="bg2"/>
          </a:solidFill>
          <a:ln/>
        </p:spPr>
      </p:sp>
      <p:sp>
        <p:nvSpPr>
          <p:cNvPr id="9" name="Text 5"/>
          <p:cNvSpPr txBox="1"/>
          <p:nvPr/>
        </p:nvSpPr>
        <p:spPr>
          <a:xfrm>
            <a:off x="5669280" y="3127248"/>
            <a:ext cx="283464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BUSINESS DECISION</a:t>
            </a:r>
            <a:endParaRPr lang="en-US" sz="1200" dirty="0"/>
          </a:p>
        </p:txBody>
      </p:sp>
      <p:sp>
        <p:nvSpPr>
          <p:cNvPr id="10" name="Text 6"/>
          <p:cNvSpPr txBox="1"/>
          <p:nvPr/>
        </p:nvSpPr>
        <p:spPr>
          <a:xfrm>
            <a:off x="5669280" y="3401568"/>
            <a:ext cx="2834640" cy="1188720"/>
          </a:xfrm>
          <a:prstGeom prst="rect">
            <a:avLst/>
          </a:prstGeom>
          <a:noFill/>
          <a:ln/>
        </p:spPr>
        <p:txBody>
          <a:bodyPr wrap="square" lIns="0" tIns="0" rIns="0" bIns="0" rtlCol="0" anchor="t"/>
          <a:lstStyle/>
          <a:p>
            <a:pPr indent="0" marL="0">
              <a:buNone/>
            </a:pPr>
            <a:r>
              <a:rPr lang="en-US" sz="1400" dirty="0">
                <a:solidFill>
                  <a:schemeClr val="tx1"/>
                </a:solidFill>
              </a:rPr>
              <a:t>Plan doctor rosters and OPD capacity for 1,400+ visits a year, and review slot availability before demand outgrows it.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Revenue trend over time</a:t>
            </a:r>
            <a:endParaRPr lang="en-US" sz="2800" dirty="0"/>
          </a:p>
        </p:txBody>
      </p:sp>
      <p:graphicFrame>
        <p:nvGraphicFramePr>
          <p:cNvPr id="4" name="Chart 0" descr=""/>
          <p:cNvGraphicFramePr/>
          <p:nvPr/>
        </p:nvGraphicFramePr>
        <p:xfrm>
          <a:off x="457200" y="1234440"/>
          <a:ext cx="4846320" cy="3429000"/>
        </p:xfrm>
        <a:graphic xmlns:a="http://schemas.openxmlformats.org/drawingml/2006/main">
          <a:graphicData uri="http://schemas.openxmlformats.org/drawingml/2006/chart">
            <c:chart xmlns:c="http://schemas.openxmlformats.org/drawingml/2006/chart" r:id="rId1"/>
          </a:graphicData>
        </a:graphic>
      </p:graphicFrame>
      <p:sp>
        <p:nvSpPr>
          <p:cNvPr id="5" name="Insight card"/>
          <p:cNvSpPr/>
          <p:nvPr/>
        </p:nvSpPr>
        <p:spPr>
          <a:xfrm>
            <a:off x="5486400" y="1234440"/>
            <a:ext cx="3200400" cy="1645920"/>
          </a:xfrm>
          <a:prstGeom prst="roundRect">
            <a:avLst>
              <a:gd name="adj" fmla="val 5556"/>
            </a:avLst>
          </a:prstGeom>
          <a:solidFill>
            <a:schemeClr val="bg2"/>
          </a:solidFill>
          <a:ln/>
        </p:spPr>
      </p:sp>
      <p:sp>
        <p:nvSpPr>
          <p:cNvPr id="6" name="Text 2"/>
          <p:cNvSpPr txBox="1"/>
          <p:nvPr/>
        </p:nvSpPr>
        <p:spPr>
          <a:xfrm>
            <a:off x="5669280" y="1344168"/>
            <a:ext cx="2834640" cy="256032"/>
          </a:xfrm>
          <a:prstGeom prst="rect">
            <a:avLst/>
          </a:prstGeom>
          <a:noFill/>
          <a:ln/>
        </p:spPr>
        <p:txBody>
          <a:bodyPr wrap="square" lIns="0" tIns="0" rIns="0" bIns="0" rtlCol="0" anchor="t"/>
          <a:lstStyle/>
          <a:p>
            <a:pPr indent="0" marL="0">
              <a:buNone/>
            </a:pPr>
            <a:r>
              <a:rPr lang="en-US" sz="1200" b="1" spc="200" kern="0" dirty="0">
                <a:solidFill>
                  <a:schemeClr val="accent3"/>
                </a:solidFill>
              </a:rPr>
              <a:t>INSIGHT</a:t>
            </a:r>
            <a:endParaRPr lang="en-US" sz="1200" dirty="0"/>
          </a:p>
        </p:txBody>
      </p:sp>
      <p:sp>
        <p:nvSpPr>
          <p:cNvPr id="7" name="Text 3"/>
          <p:cNvSpPr txBox="1"/>
          <p:nvPr/>
        </p:nvSpPr>
        <p:spPr>
          <a:xfrm>
            <a:off x="5669280" y="1618488"/>
            <a:ext cx="2834640" cy="1188720"/>
          </a:xfrm>
          <a:prstGeom prst="rect">
            <a:avLst/>
          </a:prstGeom>
          <a:noFill/>
          <a:ln/>
        </p:spPr>
        <p:txBody>
          <a:bodyPr wrap="square" lIns="0" tIns="0" rIns="0" bIns="0" rtlCol="0" anchor="t"/>
          <a:lstStyle/>
          <a:p>
            <a:pPr indent="0" marL="0">
              <a:buNone/>
            </a:pPr>
            <a:r>
              <a:rPr lang="en-US" sz="1400" dirty="0">
                <a:solidFill>
                  <a:schemeClr val="tx1"/>
                </a:solidFill>
              </a:rPr>
              <a:t>Revenue rose ₹5.9L, ₹8.8L, then ₹10.8L (+48%, +23%). It trails 2026 volume because scheduled visits earn nothing yet.</a:t>
            </a:r>
            <a:endParaRPr lang="en-US" sz="1400" dirty="0"/>
          </a:p>
        </p:txBody>
      </p:sp>
      <p:sp>
        <p:nvSpPr>
          <p:cNvPr id="8" name="Decision card"/>
          <p:cNvSpPr/>
          <p:nvPr/>
        </p:nvSpPr>
        <p:spPr>
          <a:xfrm>
            <a:off x="5486400" y="3017520"/>
            <a:ext cx="3200400" cy="1645920"/>
          </a:xfrm>
          <a:prstGeom prst="roundRect">
            <a:avLst>
              <a:gd name="adj" fmla="val 5556"/>
            </a:avLst>
          </a:prstGeom>
          <a:solidFill>
            <a:schemeClr val="bg2"/>
          </a:solidFill>
          <a:ln/>
        </p:spPr>
      </p:sp>
      <p:sp>
        <p:nvSpPr>
          <p:cNvPr id="9" name="Text 5"/>
          <p:cNvSpPr txBox="1"/>
          <p:nvPr/>
        </p:nvSpPr>
        <p:spPr>
          <a:xfrm>
            <a:off x="5669280" y="3127248"/>
            <a:ext cx="283464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BUSINESS DECISION</a:t>
            </a:r>
            <a:endParaRPr lang="en-US" sz="1200" dirty="0"/>
          </a:p>
        </p:txBody>
      </p:sp>
      <p:sp>
        <p:nvSpPr>
          <p:cNvPr id="10" name="Text 6"/>
          <p:cNvSpPr txBox="1"/>
          <p:nvPr/>
        </p:nvSpPr>
        <p:spPr>
          <a:xfrm>
            <a:off x="5669280" y="3401568"/>
            <a:ext cx="2834640" cy="1188720"/>
          </a:xfrm>
          <a:prstGeom prst="rect">
            <a:avLst/>
          </a:prstGeom>
          <a:noFill/>
          <a:ln/>
        </p:spPr>
        <p:txBody>
          <a:bodyPr wrap="square" lIns="0" tIns="0" rIns="0" bIns="0" rtlCol="0" anchor="t"/>
          <a:lstStyle/>
          <a:p>
            <a:pPr indent="0" marL="0">
              <a:buNone/>
            </a:pPr>
            <a:r>
              <a:rPr lang="en-US" sz="1400" dirty="0">
                <a:solidFill>
                  <a:schemeClr val="tx1"/>
                </a:solidFill>
              </a:rPr>
              <a:t>Track revenue per visit next to volume, and convert scheduled bookings quickly so growth in visits turns into income.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Department analysis</a:t>
            </a:r>
            <a:endParaRPr lang="en-US" sz="2800" dirty="0"/>
          </a:p>
        </p:txBody>
      </p:sp>
      <p:graphicFrame>
        <p:nvGraphicFramePr>
          <p:cNvPr id="4" name="Chart 0" descr=""/>
          <p:cNvGraphicFramePr/>
          <p:nvPr/>
        </p:nvGraphicFramePr>
        <p:xfrm>
          <a:off x="457200" y="1097280"/>
          <a:ext cx="402336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663440" y="1097280"/>
          <a:ext cx="4023360" cy="2514600"/>
        </p:xfrm>
        <a:graphic xmlns:a="http://schemas.openxmlformats.org/drawingml/2006/main">
          <a:graphicData uri="http://schemas.openxmlformats.org/drawingml/2006/chart">
            <c:chart xmlns:c="http://schemas.openxmlformats.org/drawingml/2006/chart" r:id="rId2"/>
          </a:graphicData>
        </a:graphic>
      </p:graphicFrame>
      <p:sp>
        <p:nvSpPr>
          <p:cNvPr id="6" name="Insight card"/>
          <p:cNvSpPr/>
          <p:nvPr/>
        </p:nvSpPr>
        <p:spPr>
          <a:xfrm>
            <a:off x="457200" y="3703320"/>
            <a:ext cx="4023360" cy="1005840"/>
          </a:xfrm>
          <a:prstGeom prst="roundRect">
            <a:avLst>
              <a:gd name="adj" fmla="val 9091"/>
            </a:avLst>
          </a:prstGeom>
          <a:solidFill>
            <a:schemeClr val="bg2"/>
          </a:solidFill>
          <a:ln/>
        </p:spPr>
      </p:sp>
      <p:sp>
        <p:nvSpPr>
          <p:cNvPr id="7" name="Text 2"/>
          <p:cNvSpPr txBox="1"/>
          <p:nvPr/>
        </p:nvSpPr>
        <p:spPr>
          <a:xfrm>
            <a:off x="640080" y="3813048"/>
            <a:ext cx="3657600" cy="256032"/>
          </a:xfrm>
          <a:prstGeom prst="rect">
            <a:avLst/>
          </a:prstGeom>
          <a:noFill/>
          <a:ln/>
        </p:spPr>
        <p:txBody>
          <a:bodyPr wrap="square" lIns="0" tIns="0" rIns="0" bIns="0" rtlCol="0" anchor="t"/>
          <a:lstStyle/>
          <a:p>
            <a:pPr indent="0" marL="0">
              <a:buNone/>
            </a:pPr>
            <a:r>
              <a:rPr lang="en-US" sz="1200" b="1" spc="200" kern="0" dirty="0">
                <a:solidFill>
                  <a:schemeClr val="accent3"/>
                </a:solidFill>
              </a:rPr>
              <a:t>INSIGHT</a:t>
            </a:r>
            <a:endParaRPr lang="en-US" sz="1200" dirty="0"/>
          </a:p>
        </p:txBody>
      </p:sp>
      <p:sp>
        <p:nvSpPr>
          <p:cNvPr id="8" name="Text 3"/>
          <p:cNvSpPr txBox="1"/>
          <p:nvPr/>
        </p:nvSpPr>
        <p:spPr>
          <a:xfrm>
            <a:off x="640080" y="4087368"/>
            <a:ext cx="3657600" cy="548640"/>
          </a:xfrm>
          <a:prstGeom prst="rect">
            <a:avLst/>
          </a:prstGeom>
          <a:noFill/>
          <a:ln/>
        </p:spPr>
        <p:txBody>
          <a:bodyPr wrap="square" lIns="0" tIns="0" rIns="0" bIns="0" rtlCol="0" anchor="t"/>
          <a:lstStyle/>
          <a:p>
            <a:pPr indent="0" marL="0">
              <a:buNone/>
            </a:pPr>
            <a:r>
              <a:rPr lang="en-US" sz="1400" dirty="0">
                <a:solidFill>
                  <a:schemeClr val="tx1"/>
                </a:solidFill>
              </a:rPr>
              <a:t>General Medicine has most visits (708) but a low ₹696 fee. Orthopedics earns most.</a:t>
            </a:r>
            <a:endParaRPr lang="en-US" sz="1400" dirty="0"/>
          </a:p>
        </p:txBody>
      </p:sp>
      <p:sp>
        <p:nvSpPr>
          <p:cNvPr id="9" name="Decision card"/>
          <p:cNvSpPr/>
          <p:nvPr/>
        </p:nvSpPr>
        <p:spPr>
          <a:xfrm>
            <a:off x="4663440" y="3703320"/>
            <a:ext cx="4023360" cy="1005840"/>
          </a:xfrm>
          <a:prstGeom prst="roundRect">
            <a:avLst>
              <a:gd name="adj" fmla="val 9091"/>
            </a:avLst>
          </a:prstGeom>
          <a:solidFill>
            <a:schemeClr val="bg2"/>
          </a:solidFill>
          <a:ln/>
        </p:spPr>
      </p:sp>
      <p:sp>
        <p:nvSpPr>
          <p:cNvPr id="10" name="Text 5"/>
          <p:cNvSpPr txBox="1"/>
          <p:nvPr/>
        </p:nvSpPr>
        <p:spPr>
          <a:xfrm>
            <a:off x="4846320" y="3813048"/>
            <a:ext cx="36576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BUSINESS DECISION</a:t>
            </a:r>
            <a:endParaRPr lang="en-US" sz="1200" dirty="0"/>
          </a:p>
        </p:txBody>
      </p:sp>
      <p:sp>
        <p:nvSpPr>
          <p:cNvPr id="11" name="Text 6"/>
          <p:cNvSpPr txBox="1"/>
          <p:nvPr/>
        </p:nvSpPr>
        <p:spPr>
          <a:xfrm>
            <a:off x="4846320" y="4087368"/>
            <a:ext cx="3657600" cy="548640"/>
          </a:xfrm>
          <a:prstGeom prst="rect">
            <a:avLst/>
          </a:prstGeom>
          <a:noFill/>
          <a:ln/>
        </p:spPr>
        <p:txBody>
          <a:bodyPr wrap="square" lIns="0" tIns="0" rIns="0" bIns="0" rtlCol="0" anchor="t"/>
          <a:lstStyle/>
          <a:p>
            <a:pPr indent="0" marL="0">
              <a:buNone/>
            </a:pPr>
            <a:r>
              <a:rPr lang="en-US" sz="1400" dirty="0">
                <a:solidFill>
                  <a:schemeClr val="tx1"/>
                </a:solidFill>
              </a:rPr>
              <a:t>Add capacity in high-fee Cardiology and Neurology; refer General Medicine patients on.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Appointment status mix</a:t>
            </a:r>
            <a:endParaRPr lang="en-US" sz="2800" dirty="0"/>
          </a:p>
        </p:txBody>
      </p:sp>
      <p:graphicFrame>
        <p:nvGraphicFramePr>
          <p:cNvPr id="4" name="Chart 0" descr=""/>
          <p:cNvGraphicFramePr/>
          <p:nvPr/>
        </p:nvGraphicFramePr>
        <p:xfrm>
          <a:off x="457200" y="1234440"/>
          <a:ext cx="4846320" cy="3429000"/>
        </p:xfrm>
        <a:graphic xmlns:a="http://schemas.openxmlformats.org/drawingml/2006/main">
          <a:graphicData uri="http://schemas.openxmlformats.org/drawingml/2006/chart">
            <c:chart xmlns:c="http://schemas.openxmlformats.org/drawingml/2006/chart" r:id="rId1"/>
          </a:graphicData>
        </a:graphic>
      </p:graphicFrame>
      <p:sp>
        <p:nvSpPr>
          <p:cNvPr id="5" name="Insight card"/>
          <p:cNvSpPr/>
          <p:nvPr/>
        </p:nvSpPr>
        <p:spPr>
          <a:xfrm>
            <a:off x="5486400" y="1234440"/>
            <a:ext cx="3200400" cy="1645920"/>
          </a:xfrm>
          <a:prstGeom prst="roundRect">
            <a:avLst>
              <a:gd name="adj" fmla="val 5556"/>
            </a:avLst>
          </a:prstGeom>
          <a:solidFill>
            <a:schemeClr val="bg2"/>
          </a:solidFill>
          <a:ln/>
        </p:spPr>
      </p:sp>
      <p:sp>
        <p:nvSpPr>
          <p:cNvPr id="6" name="Text 2"/>
          <p:cNvSpPr txBox="1"/>
          <p:nvPr/>
        </p:nvSpPr>
        <p:spPr>
          <a:xfrm>
            <a:off x="5669280" y="1344168"/>
            <a:ext cx="2834640" cy="256032"/>
          </a:xfrm>
          <a:prstGeom prst="rect">
            <a:avLst/>
          </a:prstGeom>
          <a:noFill/>
          <a:ln/>
        </p:spPr>
        <p:txBody>
          <a:bodyPr wrap="square" lIns="0" tIns="0" rIns="0" bIns="0" rtlCol="0" anchor="t"/>
          <a:lstStyle/>
          <a:p>
            <a:pPr indent="0" marL="0">
              <a:buNone/>
            </a:pPr>
            <a:r>
              <a:rPr lang="en-US" sz="1200" b="1" spc="200" kern="0" dirty="0">
                <a:solidFill>
                  <a:schemeClr val="accent3"/>
                </a:solidFill>
              </a:rPr>
              <a:t>INSIGHT</a:t>
            </a:r>
            <a:endParaRPr lang="en-US" sz="1200" dirty="0"/>
          </a:p>
        </p:txBody>
      </p:sp>
      <p:sp>
        <p:nvSpPr>
          <p:cNvPr id="7" name="Text 3"/>
          <p:cNvSpPr txBox="1"/>
          <p:nvPr/>
        </p:nvSpPr>
        <p:spPr>
          <a:xfrm>
            <a:off x="5669280" y="1618488"/>
            <a:ext cx="2834640" cy="1188720"/>
          </a:xfrm>
          <a:prstGeom prst="rect">
            <a:avLst/>
          </a:prstGeom>
          <a:noFill/>
          <a:ln/>
        </p:spPr>
        <p:txBody>
          <a:bodyPr wrap="square" lIns="0" tIns="0" rIns="0" bIns="0" rtlCol="0" anchor="t"/>
          <a:lstStyle/>
          <a:p>
            <a:pPr indent="0" marL="0">
              <a:buNone/>
            </a:pPr>
            <a:r>
              <a:rPr lang="en-US" sz="1400" dirty="0">
                <a:solidFill>
                  <a:schemeClr val="tx1"/>
                </a:solidFill>
              </a:rPr>
              <a:t>73% of bookings complete. Cancellations (11.2%) and no-shows (8.4%) are the leaks. ENT hits 16.6% cancelled.</a:t>
            </a:r>
            <a:endParaRPr lang="en-US" sz="1400" dirty="0"/>
          </a:p>
        </p:txBody>
      </p:sp>
      <p:sp>
        <p:nvSpPr>
          <p:cNvPr id="8" name="Decision card"/>
          <p:cNvSpPr/>
          <p:nvPr/>
        </p:nvSpPr>
        <p:spPr>
          <a:xfrm>
            <a:off x="5486400" y="3017520"/>
            <a:ext cx="3200400" cy="1645920"/>
          </a:xfrm>
          <a:prstGeom prst="roundRect">
            <a:avLst>
              <a:gd name="adj" fmla="val 5556"/>
            </a:avLst>
          </a:prstGeom>
          <a:solidFill>
            <a:schemeClr val="bg2"/>
          </a:solidFill>
          <a:ln/>
        </p:spPr>
      </p:sp>
      <p:sp>
        <p:nvSpPr>
          <p:cNvPr id="9" name="Text 5"/>
          <p:cNvSpPr txBox="1"/>
          <p:nvPr/>
        </p:nvSpPr>
        <p:spPr>
          <a:xfrm>
            <a:off x="5669280" y="3127248"/>
            <a:ext cx="283464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BUSINESS DECISION</a:t>
            </a:r>
            <a:endParaRPr lang="en-US" sz="1200" dirty="0"/>
          </a:p>
        </p:txBody>
      </p:sp>
      <p:sp>
        <p:nvSpPr>
          <p:cNvPr id="10" name="Text 6"/>
          <p:cNvSpPr txBox="1"/>
          <p:nvPr/>
        </p:nvSpPr>
        <p:spPr>
          <a:xfrm>
            <a:off x="5669280" y="3401568"/>
            <a:ext cx="2834640" cy="1188720"/>
          </a:xfrm>
          <a:prstGeom prst="rect">
            <a:avLst/>
          </a:prstGeom>
          <a:noFill/>
          <a:ln/>
        </p:spPr>
        <p:txBody>
          <a:bodyPr wrap="square" lIns="0" tIns="0" rIns="0" bIns="0" rtlCol="0" anchor="t"/>
          <a:lstStyle/>
          <a:p>
            <a:pPr indent="0" marL="0">
              <a:buNone/>
            </a:pPr>
            <a:r>
              <a:rPr lang="en-US" sz="1400" dirty="0">
                <a:solidFill>
                  <a:schemeClr val="tx1"/>
                </a:solidFill>
              </a:rPr>
              <a:t>Send SMS or WhatsApp reminders and ask for deposits. Start with ENT, Pediatrics (16.1%) and General Medicine (14.0%).</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Doctor performance</a:t>
            </a:r>
            <a:endParaRPr lang="en-US" sz="2800" dirty="0"/>
          </a:p>
        </p:txBody>
      </p:sp>
      <p:sp>
        <p:nvSpPr>
          <p:cNvPr id="4" name="Page 2 KPI 1"/>
          <p:cNvSpPr/>
          <p:nvPr/>
        </p:nvSpPr>
        <p:spPr>
          <a:xfrm>
            <a:off x="457200" y="1097280"/>
            <a:ext cx="2606040" cy="777240"/>
          </a:xfrm>
          <a:prstGeom prst="roundRect">
            <a:avLst>
              <a:gd name="adj" fmla="val 11765"/>
            </a:avLst>
          </a:prstGeom>
          <a:solidFill>
            <a:schemeClr val="bg2"/>
          </a:solidFill>
          <a:ln/>
        </p:spPr>
      </p:sp>
      <p:sp>
        <p:nvSpPr>
          <p:cNvPr id="5" name="Text 2"/>
          <p:cNvSpPr txBox="1"/>
          <p:nvPr/>
        </p:nvSpPr>
        <p:spPr>
          <a:xfrm>
            <a:off x="640080" y="1097280"/>
            <a:ext cx="1097280" cy="7772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4.23</a:t>
            </a:r>
            <a:endParaRPr lang="en-US" sz="2800" dirty="0"/>
          </a:p>
        </p:txBody>
      </p:sp>
      <p:sp>
        <p:nvSpPr>
          <p:cNvPr id="6" name="Text 3"/>
          <p:cNvSpPr txBox="1"/>
          <p:nvPr/>
        </p:nvSpPr>
        <p:spPr>
          <a:xfrm>
            <a:off x="1737360" y="1097280"/>
            <a:ext cx="1234440" cy="777240"/>
          </a:xfrm>
          <a:prstGeom prst="rect">
            <a:avLst/>
          </a:prstGeom>
          <a:noFill/>
          <a:ln/>
        </p:spPr>
        <p:txBody>
          <a:bodyPr wrap="square" lIns="0" tIns="0" rIns="0" bIns="0" rtlCol="0" anchor="ctr"/>
          <a:lstStyle/>
          <a:p>
            <a:pPr indent="0" marL="0">
              <a:buNone/>
            </a:pPr>
            <a:r>
              <a:rPr lang="en-US" sz="1400" b="1" dirty="0">
                <a:solidFill>
                  <a:schemeClr val="tx1"/>
                </a:solidFill>
              </a:rPr>
              <a:t>Average Doctor Rating</a:t>
            </a:r>
            <a:endParaRPr lang="en-US" sz="1400" dirty="0"/>
          </a:p>
        </p:txBody>
      </p:sp>
      <p:sp>
        <p:nvSpPr>
          <p:cNvPr id="7" name="Page 2 KPI 2"/>
          <p:cNvSpPr/>
          <p:nvPr/>
        </p:nvSpPr>
        <p:spPr>
          <a:xfrm>
            <a:off x="3246120" y="1097280"/>
            <a:ext cx="2606040" cy="777240"/>
          </a:xfrm>
          <a:prstGeom prst="roundRect">
            <a:avLst>
              <a:gd name="adj" fmla="val 11765"/>
            </a:avLst>
          </a:prstGeom>
          <a:solidFill>
            <a:schemeClr val="bg2"/>
          </a:solidFill>
          <a:ln/>
        </p:spPr>
      </p:sp>
      <p:sp>
        <p:nvSpPr>
          <p:cNvPr id="8" name="Text 5"/>
          <p:cNvSpPr txBox="1"/>
          <p:nvPr/>
        </p:nvSpPr>
        <p:spPr>
          <a:xfrm>
            <a:off x="3429000" y="1097280"/>
            <a:ext cx="1097280" cy="7772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456</a:t>
            </a:r>
            <a:endParaRPr lang="en-US" sz="2800" dirty="0"/>
          </a:p>
        </p:txBody>
      </p:sp>
      <p:sp>
        <p:nvSpPr>
          <p:cNvPr id="9" name="Text 6"/>
          <p:cNvSpPr txBox="1"/>
          <p:nvPr/>
        </p:nvSpPr>
        <p:spPr>
          <a:xfrm>
            <a:off x="4526280" y="1097280"/>
            <a:ext cx="1234440" cy="777240"/>
          </a:xfrm>
          <a:prstGeom prst="rect">
            <a:avLst/>
          </a:prstGeom>
          <a:noFill/>
          <a:ln/>
        </p:spPr>
        <p:txBody>
          <a:bodyPr wrap="square" lIns="0" tIns="0" rIns="0" bIns="0" rtlCol="0" anchor="ctr"/>
          <a:lstStyle/>
          <a:p>
            <a:pPr indent="0" marL="0">
              <a:buNone/>
            </a:pPr>
            <a:r>
              <a:rPr lang="en-US" sz="1400" b="1" dirty="0">
                <a:solidFill>
                  <a:schemeClr val="tx1"/>
                </a:solidFill>
              </a:rPr>
              <a:t>Active Doctors</a:t>
            </a:r>
            <a:endParaRPr lang="en-US" sz="1400" dirty="0"/>
          </a:p>
        </p:txBody>
      </p:sp>
      <p:sp>
        <p:nvSpPr>
          <p:cNvPr id="10" name="Page 2 KPI 3"/>
          <p:cNvSpPr/>
          <p:nvPr/>
        </p:nvSpPr>
        <p:spPr>
          <a:xfrm>
            <a:off x="6035040" y="1097280"/>
            <a:ext cx="2606040" cy="777240"/>
          </a:xfrm>
          <a:prstGeom prst="roundRect">
            <a:avLst>
              <a:gd name="adj" fmla="val 11765"/>
            </a:avLst>
          </a:prstGeom>
          <a:solidFill>
            <a:schemeClr val="bg2"/>
          </a:solidFill>
          <a:ln/>
        </p:spPr>
      </p:sp>
      <p:sp>
        <p:nvSpPr>
          <p:cNvPr id="11" name="Text 8"/>
          <p:cNvSpPr txBox="1"/>
          <p:nvPr/>
        </p:nvSpPr>
        <p:spPr>
          <a:xfrm>
            <a:off x="6217920" y="1097280"/>
            <a:ext cx="1097280" cy="7772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1,500</a:t>
            </a:r>
            <a:endParaRPr lang="en-US" sz="2800" dirty="0"/>
          </a:p>
        </p:txBody>
      </p:sp>
      <p:sp>
        <p:nvSpPr>
          <p:cNvPr id="12" name="Text 9"/>
          <p:cNvSpPr txBox="1"/>
          <p:nvPr/>
        </p:nvSpPr>
        <p:spPr>
          <a:xfrm>
            <a:off x="7315200" y="1097280"/>
            <a:ext cx="1234440" cy="777240"/>
          </a:xfrm>
          <a:prstGeom prst="rect">
            <a:avLst/>
          </a:prstGeom>
          <a:noFill/>
          <a:ln/>
        </p:spPr>
        <p:txBody>
          <a:bodyPr wrap="square" lIns="0" tIns="0" rIns="0" bIns="0" rtlCol="0" anchor="ctr"/>
          <a:lstStyle/>
          <a:p>
            <a:pPr indent="0" marL="0">
              <a:buNone/>
            </a:pPr>
            <a:r>
              <a:rPr lang="en-US" sz="1400" b="1" dirty="0">
                <a:solidFill>
                  <a:schemeClr val="tx1"/>
                </a:solidFill>
              </a:rPr>
              <a:t>Patients Served</a:t>
            </a:r>
            <a:endParaRPr lang="en-US" sz="1400" dirty="0"/>
          </a:p>
        </p:txBody>
      </p:sp>
      <p:graphicFrame>
        <p:nvGraphicFramePr>
          <p:cNvPr id="13" name="Chart 0" descr=""/>
          <p:cNvGraphicFramePr/>
          <p:nvPr/>
        </p:nvGraphicFramePr>
        <p:xfrm>
          <a:off x="457200" y="2011680"/>
          <a:ext cx="5029200" cy="2697480"/>
        </p:xfrm>
        <a:graphic xmlns:a="http://schemas.openxmlformats.org/drawingml/2006/main">
          <a:graphicData uri="http://schemas.openxmlformats.org/drawingml/2006/chart">
            <c:chart xmlns:c="http://schemas.openxmlformats.org/drawingml/2006/chart" r:id="rId1"/>
          </a:graphicData>
        </a:graphic>
      </p:graphicFrame>
      <p:sp>
        <p:nvSpPr>
          <p:cNvPr id="14" name="Doctor insight card"/>
          <p:cNvSpPr/>
          <p:nvPr/>
        </p:nvSpPr>
        <p:spPr>
          <a:xfrm>
            <a:off x="5669280" y="2011680"/>
            <a:ext cx="3017520" cy="2651760"/>
          </a:xfrm>
          <a:prstGeom prst="roundRect">
            <a:avLst>
              <a:gd name="adj" fmla="val 3448"/>
            </a:avLst>
          </a:prstGeom>
          <a:solidFill>
            <a:schemeClr val="bg2"/>
          </a:solidFill>
          <a:ln/>
        </p:spPr>
      </p:sp>
      <p:sp>
        <p:nvSpPr>
          <p:cNvPr id="15" name="Text 11"/>
          <p:cNvSpPr txBox="1"/>
          <p:nvPr/>
        </p:nvSpPr>
        <p:spPr>
          <a:xfrm>
            <a:off x="5852160" y="2121408"/>
            <a:ext cx="2651760" cy="256032"/>
          </a:xfrm>
          <a:prstGeom prst="rect">
            <a:avLst/>
          </a:prstGeom>
          <a:noFill/>
          <a:ln/>
        </p:spPr>
        <p:txBody>
          <a:bodyPr wrap="square" lIns="0" tIns="0" rIns="0" bIns="0" rtlCol="0" anchor="t"/>
          <a:lstStyle/>
          <a:p>
            <a:pPr indent="0" marL="0">
              <a:buNone/>
            </a:pPr>
            <a:r>
              <a:rPr lang="en-US" sz="1200" b="1" spc="200" kern="0" dirty="0">
                <a:solidFill>
                  <a:schemeClr val="accent3"/>
                </a:solidFill>
              </a:rPr>
              <a:t>INSIGHT</a:t>
            </a:r>
            <a:endParaRPr lang="en-US" sz="1200" dirty="0"/>
          </a:p>
        </p:txBody>
      </p:sp>
      <p:sp>
        <p:nvSpPr>
          <p:cNvPr id="16" name="Text 12"/>
          <p:cNvSpPr txBox="1"/>
          <p:nvPr/>
        </p:nvSpPr>
        <p:spPr>
          <a:xfrm>
            <a:off x="5852160" y="2395728"/>
            <a:ext cx="2651760" cy="868680"/>
          </a:xfrm>
          <a:prstGeom prst="rect">
            <a:avLst/>
          </a:prstGeom>
          <a:noFill/>
          <a:ln/>
        </p:spPr>
        <p:txBody>
          <a:bodyPr wrap="square" lIns="0" tIns="0" rIns="0" bIns="0" rtlCol="0" anchor="t"/>
          <a:lstStyle/>
          <a:p>
            <a:pPr indent="0" marL="0">
              <a:buNone/>
            </a:pPr>
            <a:r>
              <a:rPr lang="en-US" sz="1400" dirty="0">
                <a:solidFill>
                  <a:schemeClr val="tx1"/>
                </a:solidFill>
              </a:rPr>
              <a:t>The top 10 earn only about 10% of revenue, so income is spread across 456 doctors.</a:t>
            </a:r>
            <a:endParaRPr lang="en-US" sz="1400" dirty="0"/>
          </a:p>
        </p:txBody>
      </p:sp>
      <p:sp>
        <p:nvSpPr>
          <p:cNvPr id="17" name="Text 13"/>
          <p:cNvSpPr txBox="1"/>
          <p:nvPr/>
        </p:nvSpPr>
        <p:spPr>
          <a:xfrm>
            <a:off x="5852160" y="3291840"/>
            <a:ext cx="265176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BUSINESS DECISION</a:t>
            </a:r>
            <a:endParaRPr lang="en-US" sz="1200" dirty="0"/>
          </a:p>
        </p:txBody>
      </p:sp>
      <p:sp>
        <p:nvSpPr>
          <p:cNvPr id="18" name="Text 14"/>
          <p:cNvSpPr txBox="1"/>
          <p:nvPr/>
        </p:nvSpPr>
        <p:spPr>
          <a:xfrm>
            <a:off x="5852160" y="3566160"/>
            <a:ext cx="2651760" cy="1005840"/>
          </a:xfrm>
          <a:prstGeom prst="rect">
            <a:avLst/>
          </a:prstGeom>
          <a:noFill/>
          <a:ln/>
        </p:spPr>
        <p:txBody>
          <a:bodyPr wrap="square" lIns="0" tIns="0" rIns="0" bIns="0" rtlCol="0" anchor="t"/>
          <a:lstStyle/>
          <a:p>
            <a:pPr indent="0" marL="0">
              <a:buNone/>
            </a:pPr>
            <a:r>
              <a:rPr lang="en-US" sz="1400" dirty="0">
                <a:solidFill>
                  <a:schemeClr val="tx1"/>
                </a:solidFill>
              </a:rPr>
              <a:t>Share top performers' scheduling habits; coach lower-rated doctors (140 rate 4.5+).</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Patient geography and type</a:t>
            </a:r>
            <a:endParaRPr lang="en-US" sz="2800" dirty="0"/>
          </a:p>
        </p:txBody>
      </p:sp>
      <p:graphicFrame>
        <p:nvGraphicFramePr>
          <p:cNvPr id="4" name="Chart 0" descr=""/>
          <p:cNvGraphicFramePr/>
          <p:nvPr/>
        </p:nvGraphicFramePr>
        <p:xfrm>
          <a:off x="457200" y="1097280"/>
          <a:ext cx="420624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846320" y="1097280"/>
          <a:ext cx="3840480" cy="2514600"/>
        </p:xfrm>
        <a:graphic xmlns:a="http://schemas.openxmlformats.org/drawingml/2006/main">
          <a:graphicData uri="http://schemas.openxmlformats.org/drawingml/2006/chart">
            <c:chart xmlns:c="http://schemas.openxmlformats.org/drawingml/2006/chart" r:id="rId2"/>
          </a:graphicData>
        </a:graphic>
      </p:graphicFrame>
      <p:sp>
        <p:nvSpPr>
          <p:cNvPr id="6" name="Insight card"/>
          <p:cNvSpPr/>
          <p:nvPr/>
        </p:nvSpPr>
        <p:spPr>
          <a:xfrm>
            <a:off x="457200" y="3703320"/>
            <a:ext cx="4206240" cy="1005840"/>
          </a:xfrm>
          <a:prstGeom prst="roundRect">
            <a:avLst>
              <a:gd name="adj" fmla="val 9091"/>
            </a:avLst>
          </a:prstGeom>
          <a:solidFill>
            <a:schemeClr val="bg2"/>
          </a:solidFill>
          <a:ln/>
        </p:spPr>
      </p:sp>
      <p:sp>
        <p:nvSpPr>
          <p:cNvPr id="7" name="Text 2"/>
          <p:cNvSpPr txBox="1"/>
          <p:nvPr/>
        </p:nvSpPr>
        <p:spPr>
          <a:xfrm>
            <a:off x="640080" y="3813048"/>
            <a:ext cx="3840480" cy="256032"/>
          </a:xfrm>
          <a:prstGeom prst="rect">
            <a:avLst/>
          </a:prstGeom>
          <a:noFill/>
          <a:ln/>
        </p:spPr>
        <p:txBody>
          <a:bodyPr wrap="square" lIns="0" tIns="0" rIns="0" bIns="0" rtlCol="0" anchor="t"/>
          <a:lstStyle/>
          <a:p>
            <a:pPr indent="0" marL="0">
              <a:buNone/>
            </a:pPr>
            <a:r>
              <a:rPr lang="en-US" sz="1200" b="1" spc="200" kern="0" dirty="0">
                <a:solidFill>
                  <a:schemeClr val="accent3"/>
                </a:solidFill>
              </a:rPr>
              <a:t>INSIGHT</a:t>
            </a:r>
            <a:endParaRPr lang="en-US" sz="1200" dirty="0"/>
          </a:p>
        </p:txBody>
      </p:sp>
      <p:sp>
        <p:nvSpPr>
          <p:cNvPr id="8" name="Text 3"/>
          <p:cNvSpPr txBox="1"/>
          <p:nvPr/>
        </p:nvSpPr>
        <p:spPr>
          <a:xfrm>
            <a:off x="640080" y="4087368"/>
            <a:ext cx="3840480" cy="548640"/>
          </a:xfrm>
          <a:prstGeom prst="rect">
            <a:avLst/>
          </a:prstGeom>
          <a:noFill/>
          <a:ln/>
        </p:spPr>
        <p:txBody>
          <a:bodyPr wrap="square" lIns="0" tIns="0" rIns="0" bIns="0" rtlCol="0" anchor="t"/>
          <a:lstStyle/>
          <a:p>
            <a:pPr indent="0" marL="0">
              <a:buNone/>
            </a:pPr>
            <a:r>
              <a:rPr lang="en-US" sz="1400" dirty="0">
                <a:solidFill>
                  <a:schemeClr val="tx1"/>
                </a:solidFill>
              </a:rPr>
              <a:t>Maharashtra leads with 614 visits (20%). 82% of visits come from returning patients.</a:t>
            </a:r>
            <a:endParaRPr lang="en-US" sz="1400" dirty="0"/>
          </a:p>
        </p:txBody>
      </p:sp>
      <p:sp>
        <p:nvSpPr>
          <p:cNvPr id="9" name="Decision card"/>
          <p:cNvSpPr/>
          <p:nvPr/>
        </p:nvSpPr>
        <p:spPr>
          <a:xfrm>
            <a:off x="4846320" y="3703320"/>
            <a:ext cx="3840480" cy="1005840"/>
          </a:xfrm>
          <a:prstGeom prst="roundRect">
            <a:avLst>
              <a:gd name="adj" fmla="val 9091"/>
            </a:avLst>
          </a:prstGeom>
          <a:solidFill>
            <a:schemeClr val="bg2"/>
          </a:solidFill>
          <a:ln/>
        </p:spPr>
      </p:sp>
      <p:sp>
        <p:nvSpPr>
          <p:cNvPr id="10" name="Text 5"/>
          <p:cNvSpPr txBox="1"/>
          <p:nvPr/>
        </p:nvSpPr>
        <p:spPr>
          <a:xfrm>
            <a:off x="5029200" y="3813048"/>
            <a:ext cx="347472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BUSINESS DECISION</a:t>
            </a:r>
            <a:endParaRPr lang="en-US" sz="1200" dirty="0"/>
          </a:p>
        </p:txBody>
      </p:sp>
      <p:sp>
        <p:nvSpPr>
          <p:cNvPr id="11" name="Text 6"/>
          <p:cNvSpPr txBox="1"/>
          <p:nvPr/>
        </p:nvSpPr>
        <p:spPr>
          <a:xfrm>
            <a:off x="5029200" y="4087368"/>
            <a:ext cx="3474720" cy="548640"/>
          </a:xfrm>
          <a:prstGeom prst="rect">
            <a:avLst/>
          </a:prstGeom>
          <a:noFill/>
          <a:ln/>
        </p:spPr>
        <p:txBody>
          <a:bodyPr wrap="square" lIns="0" tIns="0" rIns="0" bIns="0" rtlCol="0" anchor="t"/>
          <a:lstStyle/>
          <a:p>
            <a:pPr indent="0" marL="0">
              <a:buNone/>
            </a:pPr>
            <a:r>
              <a:rPr lang="en-US" sz="1400" dirty="0">
                <a:solidFill>
                  <a:schemeClr val="tx1"/>
                </a:solidFill>
              </a:rPr>
              <a:t>Protect the returning base with reminders; run new-patient outreach outside Maharashtra.</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Revenue by insurance provider</a:t>
            </a:r>
            <a:endParaRPr lang="en-US" sz="2800" dirty="0"/>
          </a:p>
        </p:txBody>
      </p:sp>
      <p:graphicFrame>
        <p:nvGraphicFramePr>
          <p:cNvPr id="4" name="Chart 0" descr=""/>
          <p:cNvGraphicFramePr/>
          <p:nvPr/>
        </p:nvGraphicFramePr>
        <p:xfrm>
          <a:off x="457200" y="1188720"/>
          <a:ext cx="4846320" cy="3474720"/>
        </p:xfrm>
        <a:graphic xmlns:a="http://schemas.openxmlformats.org/drawingml/2006/main">
          <a:graphicData uri="http://schemas.openxmlformats.org/drawingml/2006/chart">
            <c:chart xmlns:c="http://schemas.openxmlformats.org/drawingml/2006/chart" r:id="rId1"/>
          </a:graphicData>
        </a:graphic>
      </p:graphicFrame>
      <p:sp>
        <p:nvSpPr>
          <p:cNvPr id="5" name="Insight card"/>
          <p:cNvSpPr/>
          <p:nvPr/>
        </p:nvSpPr>
        <p:spPr>
          <a:xfrm>
            <a:off x="5486400" y="1234440"/>
            <a:ext cx="3200400" cy="1645920"/>
          </a:xfrm>
          <a:prstGeom prst="roundRect">
            <a:avLst>
              <a:gd name="adj" fmla="val 5556"/>
            </a:avLst>
          </a:prstGeom>
          <a:solidFill>
            <a:schemeClr val="bg2"/>
          </a:solidFill>
          <a:ln/>
        </p:spPr>
      </p:sp>
      <p:sp>
        <p:nvSpPr>
          <p:cNvPr id="6" name="Text 2"/>
          <p:cNvSpPr txBox="1"/>
          <p:nvPr/>
        </p:nvSpPr>
        <p:spPr>
          <a:xfrm>
            <a:off x="5669280" y="1344168"/>
            <a:ext cx="2834640" cy="256032"/>
          </a:xfrm>
          <a:prstGeom prst="rect">
            <a:avLst/>
          </a:prstGeom>
          <a:noFill/>
          <a:ln/>
        </p:spPr>
        <p:txBody>
          <a:bodyPr wrap="square" lIns="0" tIns="0" rIns="0" bIns="0" rtlCol="0" anchor="t"/>
          <a:lstStyle/>
          <a:p>
            <a:pPr indent="0" marL="0">
              <a:buNone/>
            </a:pPr>
            <a:r>
              <a:rPr lang="en-US" sz="1200" b="1" spc="200" kern="0" dirty="0">
                <a:solidFill>
                  <a:schemeClr val="accent3"/>
                </a:solidFill>
              </a:rPr>
              <a:t>INSIGHT</a:t>
            </a:r>
            <a:endParaRPr lang="en-US" sz="1200" dirty="0"/>
          </a:p>
        </p:txBody>
      </p:sp>
      <p:sp>
        <p:nvSpPr>
          <p:cNvPr id="7" name="Text 3"/>
          <p:cNvSpPr txBox="1"/>
          <p:nvPr/>
        </p:nvSpPr>
        <p:spPr>
          <a:xfrm>
            <a:off x="5669280" y="1618488"/>
            <a:ext cx="2834640" cy="1188720"/>
          </a:xfrm>
          <a:prstGeom prst="rect">
            <a:avLst/>
          </a:prstGeom>
          <a:noFill/>
          <a:ln/>
        </p:spPr>
        <p:txBody>
          <a:bodyPr wrap="square" lIns="0" tIns="0" rIns="0" bIns="0" rtlCol="0" anchor="t"/>
          <a:lstStyle/>
          <a:p>
            <a:pPr indent="0" marL="0">
              <a:buNone/>
            </a:pPr>
            <a:r>
              <a:rPr lang="en-US" sz="1400" dirty="0">
                <a:solidFill>
                  <a:schemeClr val="tx1"/>
                </a:solidFill>
              </a:rPr>
              <a:t>Self Pay is the largest payer at ₹8.4L (33%). Star Health and HDFC ERGO lead insurers; Bajaj Allianz is smallest.</a:t>
            </a:r>
            <a:endParaRPr lang="en-US" sz="1400" dirty="0"/>
          </a:p>
        </p:txBody>
      </p:sp>
      <p:sp>
        <p:nvSpPr>
          <p:cNvPr id="8" name="Decision card"/>
          <p:cNvSpPr/>
          <p:nvPr/>
        </p:nvSpPr>
        <p:spPr>
          <a:xfrm>
            <a:off x="5486400" y="3017520"/>
            <a:ext cx="3200400" cy="1645920"/>
          </a:xfrm>
          <a:prstGeom prst="roundRect">
            <a:avLst>
              <a:gd name="adj" fmla="val 5556"/>
            </a:avLst>
          </a:prstGeom>
          <a:solidFill>
            <a:schemeClr val="bg2"/>
          </a:solidFill>
          <a:ln/>
        </p:spPr>
      </p:sp>
      <p:sp>
        <p:nvSpPr>
          <p:cNvPr id="9" name="Text 5"/>
          <p:cNvSpPr txBox="1"/>
          <p:nvPr/>
        </p:nvSpPr>
        <p:spPr>
          <a:xfrm>
            <a:off x="5669280" y="3127248"/>
            <a:ext cx="283464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BUSINESS DECISION</a:t>
            </a:r>
            <a:endParaRPr lang="en-US" sz="1200" dirty="0"/>
          </a:p>
        </p:txBody>
      </p:sp>
      <p:sp>
        <p:nvSpPr>
          <p:cNvPr id="10" name="Text 6"/>
          <p:cNvSpPr txBox="1"/>
          <p:nvPr/>
        </p:nvSpPr>
        <p:spPr>
          <a:xfrm>
            <a:off x="5669280" y="3401568"/>
            <a:ext cx="2834640" cy="1188720"/>
          </a:xfrm>
          <a:prstGeom prst="rect">
            <a:avLst/>
          </a:prstGeom>
          <a:noFill/>
          <a:ln/>
        </p:spPr>
        <p:txBody>
          <a:bodyPr wrap="square" lIns="0" tIns="0" rIns="0" bIns="0" rtlCol="0" anchor="t"/>
          <a:lstStyle/>
          <a:p>
            <a:pPr indent="0" marL="0">
              <a:buNone/>
            </a:pPr>
            <a:r>
              <a:rPr lang="en-US" sz="1400" dirty="0">
                <a:solidFill>
                  <a:schemeClr val="tx1"/>
                </a:solidFill>
              </a:rPr>
              <a:t>Deepen contracts and speed up claims with top insurers; review low-yield partners such as Tata AIG and Bajaj Allianz.</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Key insights</a:t>
            </a:r>
            <a:endParaRPr lang="en-US" sz="2800" dirty="0"/>
          </a:p>
        </p:txBody>
      </p:sp>
      <p:sp>
        <p:nvSpPr>
          <p:cNvPr id="4" name="Insight row 1"/>
          <p:cNvSpPr/>
          <p:nvPr/>
        </p:nvSpPr>
        <p:spPr>
          <a:xfrm>
            <a:off x="457200" y="1143000"/>
            <a:ext cx="8229600" cy="612648"/>
          </a:xfrm>
          <a:prstGeom prst="roundRect">
            <a:avLst>
              <a:gd name="adj" fmla="val 14925"/>
            </a:avLst>
          </a:prstGeom>
          <a:solidFill>
            <a:schemeClr val="bg2"/>
          </a:solidFill>
          <a:ln/>
        </p:spPr>
      </p:sp>
      <p:sp>
        <p:nvSpPr>
          <p:cNvPr id="5" name="Insight badge 1"/>
          <p:cNvSpPr/>
          <p:nvPr/>
        </p:nvSpPr>
        <p:spPr>
          <a:xfrm>
            <a:off x="594360" y="1234440"/>
            <a:ext cx="429768" cy="429768"/>
          </a:xfrm>
          <a:prstGeom prst="ellipse">
            <a:avLst/>
          </a:prstGeom>
          <a:solidFill>
            <a:schemeClr val="accent1"/>
          </a:solidFill>
          <a:ln/>
        </p:spPr>
      </p:sp>
      <p:sp>
        <p:nvSpPr>
          <p:cNvPr id="6" name="Text 3"/>
          <p:cNvSpPr txBox="1"/>
          <p:nvPr/>
        </p:nvSpPr>
        <p:spPr>
          <a:xfrm>
            <a:off x="594360" y="1234440"/>
            <a:ext cx="429768" cy="42976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188720" y="1143000"/>
            <a:ext cx="7406640" cy="612648"/>
          </a:xfrm>
          <a:prstGeom prst="rect">
            <a:avLst/>
          </a:prstGeom>
          <a:noFill/>
          <a:ln/>
        </p:spPr>
        <p:txBody>
          <a:bodyPr wrap="square" lIns="0" tIns="0" rIns="0" bIns="0" rtlCol="0" anchor="ctr"/>
          <a:lstStyle/>
          <a:p>
            <a:pPr indent="0" marL="0">
              <a:buNone/>
            </a:pPr>
            <a:r>
              <a:rPr lang="en-US" sz="1400" b="1" dirty="0">
                <a:solidFill>
                  <a:schemeClr val="tx1"/>
                </a:solidFill>
              </a:rPr>
              <a:t>Demand is growing fast.  </a:t>
            </a:r>
            <a:pPr indent="0" marL="0">
              <a:buNone/>
            </a:pPr>
            <a:r>
              <a:rPr lang="en-US" sz="1400" dirty="0">
                <a:solidFill>
                  <a:srgbClr val="5B6B7B"/>
                </a:solidFill>
              </a:rPr>
              <a:t>Appointments rose from 646 to 1,420 in two years (2024 to 2026).</a:t>
            </a:r>
            <a:endParaRPr lang="en-US" sz="1400" dirty="0"/>
          </a:p>
        </p:txBody>
      </p:sp>
      <p:sp>
        <p:nvSpPr>
          <p:cNvPr id="8" name="Insight row 2"/>
          <p:cNvSpPr/>
          <p:nvPr/>
        </p:nvSpPr>
        <p:spPr>
          <a:xfrm>
            <a:off x="457200" y="1847088"/>
            <a:ext cx="8229600" cy="612648"/>
          </a:xfrm>
          <a:prstGeom prst="roundRect">
            <a:avLst>
              <a:gd name="adj" fmla="val 14925"/>
            </a:avLst>
          </a:prstGeom>
          <a:solidFill>
            <a:schemeClr val="bg2"/>
          </a:solidFill>
          <a:ln/>
        </p:spPr>
      </p:sp>
      <p:sp>
        <p:nvSpPr>
          <p:cNvPr id="9" name="Insight badge 2"/>
          <p:cNvSpPr/>
          <p:nvPr/>
        </p:nvSpPr>
        <p:spPr>
          <a:xfrm>
            <a:off x="594360" y="1938528"/>
            <a:ext cx="429768" cy="429768"/>
          </a:xfrm>
          <a:prstGeom prst="ellipse">
            <a:avLst/>
          </a:prstGeom>
          <a:solidFill>
            <a:schemeClr val="accent1"/>
          </a:solidFill>
          <a:ln/>
        </p:spPr>
      </p:sp>
      <p:sp>
        <p:nvSpPr>
          <p:cNvPr id="10" name="Text 7"/>
          <p:cNvSpPr txBox="1"/>
          <p:nvPr/>
        </p:nvSpPr>
        <p:spPr>
          <a:xfrm>
            <a:off x="594360" y="1938528"/>
            <a:ext cx="429768" cy="42976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188720" y="1847088"/>
            <a:ext cx="7406640" cy="612648"/>
          </a:xfrm>
          <a:prstGeom prst="rect">
            <a:avLst/>
          </a:prstGeom>
          <a:noFill/>
          <a:ln/>
        </p:spPr>
        <p:txBody>
          <a:bodyPr wrap="square" lIns="0" tIns="0" rIns="0" bIns="0" rtlCol="0" anchor="ctr"/>
          <a:lstStyle/>
          <a:p>
            <a:pPr indent="0" marL="0">
              <a:buNone/>
            </a:pPr>
            <a:r>
              <a:rPr lang="en-US" sz="1400" b="1" dirty="0">
                <a:solidFill>
                  <a:schemeClr val="tx1"/>
                </a:solidFill>
              </a:rPr>
              <a:t>One in five closed bookings is lost.  </a:t>
            </a:r>
            <a:pPr indent="0" marL="0">
              <a:buNone/>
            </a:pPr>
            <a:r>
              <a:rPr lang="en-US" sz="1400" dirty="0">
                <a:solidFill>
                  <a:srgbClr val="5B6B7B"/>
                </a:solidFill>
              </a:rPr>
              <a:t>12.1% cancelled and 9.1% no-show, worth about ₹6.9 lakh.</a:t>
            </a:r>
            <a:endParaRPr lang="en-US" sz="1400" dirty="0"/>
          </a:p>
        </p:txBody>
      </p:sp>
      <p:sp>
        <p:nvSpPr>
          <p:cNvPr id="12" name="Insight row 3"/>
          <p:cNvSpPr/>
          <p:nvPr/>
        </p:nvSpPr>
        <p:spPr>
          <a:xfrm>
            <a:off x="457200" y="2551176"/>
            <a:ext cx="8229600" cy="612648"/>
          </a:xfrm>
          <a:prstGeom prst="roundRect">
            <a:avLst>
              <a:gd name="adj" fmla="val 14925"/>
            </a:avLst>
          </a:prstGeom>
          <a:solidFill>
            <a:schemeClr val="bg2"/>
          </a:solidFill>
          <a:ln/>
        </p:spPr>
      </p:sp>
      <p:sp>
        <p:nvSpPr>
          <p:cNvPr id="13" name="Insight badge 3"/>
          <p:cNvSpPr/>
          <p:nvPr/>
        </p:nvSpPr>
        <p:spPr>
          <a:xfrm>
            <a:off x="594360" y="2642616"/>
            <a:ext cx="429768" cy="429768"/>
          </a:xfrm>
          <a:prstGeom prst="ellipse">
            <a:avLst/>
          </a:prstGeom>
          <a:solidFill>
            <a:schemeClr val="accent1"/>
          </a:solidFill>
          <a:ln/>
        </p:spPr>
      </p:sp>
      <p:sp>
        <p:nvSpPr>
          <p:cNvPr id="14" name="Text 11"/>
          <p:cNvSpPr txBox="1"/>
          <p:nvPr/>
        </p:nvSpPr>
        <p:spPr>
          <a:xfrm>
            <a:off x="594360" y="2642616"/>
            <a:ext cx="429768" cy="42976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188720" y="2551176"/>
            <a:ext cx="7406640" cy="612648"/>
          </a:xfrm>
          <a:prstGeom prst="rect">
            <a:avLst/>
          </a:prstGeom>
          <a:noFill/>
          <a:ln/>
        </p:spPr>
        <p:txBody>
          <a:bodyPr wrap="square" lIns="0" tIns="0" rIns="0" bIns="0" rtlCol="0" anchor="ctr"/>
          <a:lstStyle/>
          <a:p>
            <a:pPr indent="0" marL="0">
              <a:buNone/>
            </a:pPr>
            <a:r>
              <a:rPr lang="en-US" sz="1400" b="1" dirty="0">
                <a:solidFill>
                  <a:schemeClr val="tx1"/>
                </a:solidFill>
              </a:rPr>
              <a:t>Revenue leans on a few departments.  </a:t>
            </a:r>
            <a:pPr indent="0" marL="0">
              <a:buNone/>
            </a:pPr>
            <a:r>
              <a:rPr lang="en-US" sz="1400" dirty="0">
                <a:solidFill>
                  <a:srgbClr val="5B6B7B"/>
                </a:solidFill>
              </a:rPr>
              <a:t>Orthopedics, General Medicine, Cardiology: 44% of income.</a:t>
            </a:r>
            <a:endParaRPr lang="en-US" sz="1400" dirty="0"/>
          </a:p>
        </p:txBody>
      </p:sp>
      <p:sp>
        <p:nvSpPr>
          <p:cNvPr id="16" name="Insight row 4"/>
          <p:cNvSpPr/>
          <p:nvPr/>
        </p:nvSpPr>
        <p:spPr>
          <a:xfrm>
            <a:off x="457200" y="3255264"/>
            <a:ext cx="8229600" cy="612648"/>
          </a:xfrm>
          <a:prstGeom prst="roundRect">
            <a:avLst>
              <a:gd name="adj" fmla="val 14925"/>
            </a:avLst>
          </a:prstGeom>
          <a:solidFill>
            <a:schemeClr val="bg2"/>
          </a:solidFill>
          <a:ln/>
        </p:spPr>
      </p:sp>
      <p:sp>
        <p:nvSpPr>
          <p:cNvPr id="17" name="Insight badge 4"/>
          <p:cNvSpPr/>
          <p:nvPr/>
        </p:nvSpPr>
        <p:spPr>
          <a:xfrm>
            <a:off x="594360" y="3346704"/>
            <a:ext cx="429768" cy="429768"/>
          </a:xfrm>
          <a:prstGeom prst="ellipse">
            <a:avLst/>
          </a:prstGeom>
          <a:solidFill>
            <a:schemeClr val="accent1"/>
          </a:solidFill>
          <a:ln/>
        </p:spPr>
      </p:sp>
      <p:sp>
        <p:nvSpPr>
          <p:cNvPr id="18" name="Text 15"/>
          <p:cNvSpPr txBox="1"/>
          <p:nvPr/>
        </p:nvSpPr>
        <p:spPr>
          <a:xfrm>
            <a:off x="594360" y="3346704"/>
            <a:ext cx="429768" cy="42976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188720" y="3255264"/>
            <a:ext cx="7406640" cy="612648"/>
          </a:xfrm>
          <a:prstGeom prst="rect">
            <a:avLst/>
          </a:prstGeom>
          <a:noFill/>
          <a:ln/>
        </p:spPr>
        <p:txBody>
          <a:bodyPr wrap="square" lIns="0" tIns="0" rIns="0" bIns="0" rtlCol="0" anchor="ctr"/>
          <a:lstStyle/>
          <a:p>
            <a:pPr indent="0" marL="0">
              <a:buNone/>
            </a:pPr>
            <a:r>
              <a:rPr lang="en-US" sz="1400" b="1" dirty="0">
                <a:solidFill>
                  <a:schemeClr val="tx1"/>
                </a:solidFill>
              </a:rPr>
              <a:t>Payer mix is Self Pay heavy.  </a:t>
            </a:r>
            <a:pPr indent="0" marL="0">
              <a:buNone/>
            </a:pPr>
            <a:r>
              <a:rPr lang="en-US" sz="1400" dirty="0">
                <a:solidFill>
                  <a:srgbClr val="5B6B7B"/>
                </a:solidFill>
              </a:rPr>
              <a:t>33% of revenue is Self Pay; insurers vary from ₹0.9L to ₹2.8L.</a:t>
            </a:r>
            <a:endParaRPr lang="en-US" sz="1400" dirty="0"/>
          </a:p>
        </p:txBody>
      </p:sp>
      <p:sp>
        <p:nvSpPr>
          <p:cNvPr id="20" name="Insight row 5"/>
          <p:cNvSpPr/>
          <p:nvPr/>
        </p:nvSpPr>
        <p:spPr>
          <a:xfrm>
            <a:off x="457200" y="3959352"/>
            <a:ext cx="8229600" cy="612648"/>
          </a:xfrm>
          <a:prstGeom prst="roundRect">
            <a:avLst>
              <a:gd name="adj" fmla="val 14925"/>
            </a:avLst>
          </a:prstGeom>
          <a:solidFill>
            <a:schemeClr val="bg2"/>
          </a:solidFill>
          <a:ln/>
        </p:spPr>
      </p:sp>
      <p:sp>
        <p:nvSpPr>
          <p:cNvPr id="21" name="Insight badge 5"/>
          <p:cNvSpPr/>
          <p:nvPr/>
        </p:nvSpPr>
        <p:spPr>
          <a:xfrm>
            <a:off x="594360" y="4050792"/>
            <a:ext cx="429768" cy="429768"/>
          </a:xfrm>
          <a:prstGeom prst="ellipse">
            <a:avLst/>
          </a:prstGeom>
          <a:solidFill>
            <a:schemeClr val="accent1"/>
          </a:solidFill>
          <a:ln/>
        </p:spPr>
      </p:sp>
      <p:sp>
        <p:nvSpPr>
          <p:cNvPr id="22" name="Text 19"/>
          <p:cNvSpPr txBox="1"/>
          <p:nvPr/>
        </p:nvSpPr>
        <p:spPr>
          <a:xfrm>
            <a:off x="594360" y="4050792"/>
            <a:ext cx="429768" cy="42976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Text 20"/>
          <p:cNvSpPr txBox="1"/>
          <p:nvPr/>
        </p:nvSpPr>
        <p:spPr>
          <a:xfrm>
            <a:off x="1188720" y="3959352"/>
            <a:ext cx="7406640" cy="612648"/>
          </a:xfrm>
          <a:prstGeom prst="rect">
            <a:avLst/>
          </a:prstGeom>
          <a:noFill/>
          <a:ln/>
        </p:spPr>
        <p:txBody>
          <a:bodyPr wrap="square" lIns="0" tIns="0" rIns="0" bIns="0" rtlCol="0" anchor="ctr"/>
          <a:lstStyle/>
          <a:p>
            <a:pPr indent="0" marL="0">
              <a:buNone/>
            </a:pPr>
            <a:r>
              <a:rPr lang="en-US" sz="1400" b="1" dirty="0">
                <a:solidFill>
                  <a:schemeClr val="tx1"/>
                </a:solidFill>
              </a:rPr>
              <a:t>Loyal patients, concentrated geography.  </a:t>
            </a:r>
            <a:pPr indent="0" marL="0">
              <a:buNone/>
            </a:pPr>
            <a:r>
              <a:rPr lang="en-US" sz="1400" dirty="0">
                <a:solidFill>
                  <a:srgbClr val="5B6B7B"/>
                </a:solidFill>
              </a:rPr>
              <a:t>82% of visits are returning; Maharashtra gives 20%.</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Recommended business decisions</a:t>
            </a:r>
            <a:endParaRPr lang="en-US" sz="2800" dirty="0"/>
          </a:p>
        </p:txBody>
      </p:sp>
      <p:sp>
        <p:nvSpPr>
          <p:cNvPr id="4" name="Decision action 1"/>
          <p:cNvSpPr/>
          <p:nvPr/>
        </p:nvSpPr>
        <p:spPr>
          <a:xfrm>
            <a:off x="457200" y="1234440"/>
            <a:ext cx="4023360" cy="1600200"/>
          </a:xfrm>
          <a:prstGeom prst="roundRect">
            <a:avLst>
              <a:gd name="adj" fmla="val 5714"/>
            </a:avLst>
          </a:prstGeom>
          <a:solidFill>
            <a:schemeClr val="bg2"/>
          </a:solidFill>
          <a:ln/>
        </p:spPr>
      </p:sp>
      <p:sp>
        <p:nvSpPr>
          <p:cNvPr id="5" name="Action dot 1"/>
          <p:cNvSpPr/>
          <p:nvPr/>
        </p:nvSpPr>
        <p:spPr>
          <a:xfrm>
            <a:off x="640080" y="1417320"/>
            <a:ext cx="292608" cy="292608"/>
          </a:xfrm>
          <a:prstGeom prst="ellipse">
            <a:avLst/>
          </a:prstGeom>
          <a:solidFill>
            <a:schemeClr val="accent4"/>
          </a:solidFill>
          <a:ln/>
        </p:spPr>
      </p:sp>
      <p:sp>
        <p:nvSpPr>
          <p:cNvPr id="6" name="Text 3"/>
          <p:cNvSpPr txBox="1"/>
          <p:nvPr/>
        </p:nvSpPr>
        <p:spPr>
          <a:xfrm>
            <a:off x="1051560" y="1389888"/>
            <a:ext cx="3200400" cy="347472"/>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Cut lost bookings</a:t>
            </a:r>
            <a:endParaRPr lang="en-US" sz="1800" dirty="0"/>
          </a:p>
        </p:txBody>
      </p:sp>
      <p:sp>
        <p:nvSpPr>
          <p:cNvPr id="7" name="Text 4"/>
          <p:cNvSpPr txBox="1"/>
          <p:nvPr/>
        </p:nvSpPr>
        <p:spPr>
          <a:xfrm>
            <a:off x="640080" y="1874520"/>
            <a:ext cx="3657600" cy="914400"/>
          </a:xfrm>
          <a:prstGeom prst="rect">
            <a:avLst/>
          </a:prstGeom>
          <a:noFill/>
          <a:ln/>
        </p:spPr>
        <p:txBody>
          <a:bodyPr wrap="square" lIns="0" tIns="0" rIns="0" bIns="0" rtlCol="0" anchor="t"/>
          <a:lstStyle/>
          <a:p>
            <a:pPr indent="0" marL="0">
              <a:buNone/>
            </a:pPr>
            <a:r>
              <a:rPr lang="en-US" sz="1600" dirty="0">
                <a:solidFill>
                  <a:schemeClr val="tx1"/>
                </a:solidFill>
              </a:rPr>
              <a:t>Reminders, deposits and easy rescheduling. Watch No Show and Cancellation Rate by department.</a:t>
            </a:r>
            <a:endParaRPr lang="en-US" sz="1600" dirty="0"/>
          </a:p>
        </p:txBody>
      </p:sp>
      <p:sp>
        <p:nvSpPr>
          <p:cNvPr id="8" name="Decision action 2"/>
          <p:cNvSpPr/>
          <p:nvPr/>
        </p:nvSpPr>
        <p:spPr>
          <a:xfrm>
            <a:off x="4663440" y="1234440"/>
            <a:ext cx="4023360" cy="1600200"/>
          </a:xfrm>
          <a:prstGeom prst="roundRect">
            <a:avLst>
              <a:gd name="adj" fmla="val 5714"/>
            </a:avLst>
          </a:prstGeom>
          <a:solidFill>
            <a:schemeClr val="bg2"/>
          </a:solidFill>
          <a:ln/>
        </p:spPr>
      </p:sp>
      <p:sp>
        <p:nvSpPr>
          <p:cNvPr id="9" name="Action dot 2"/>
          <p:cNvSpPr/>
          <p:nvPr/>
        </p:nvSpPr>
        <p:spPr>
          <a:xfrm>
            <a:off x="4846320" y="1417320"/>
            <a:ext cx="292608" cy="292608"/>
          </a:xfrm>
          <a:prstGeom prst="ellipse">
            <a:avLst/>
          </a:prstGeom>
          <a:solidFill>
            <a:schemeClr val="accent1"/>
          </a:solidFill>
          <a:ln/>
        </p:spPr>
      </p:sp>
      <p:sp>
        <p:nvSpPr>
          <p:cNvPr id="10" name="Text 7"/>
          <p:cNvSpPr txBox="1"/>
          <p:nvPr/>
        </p:nvSpPr>
        <p:spPr>
          <a:xfrm>
            <a:off x="5257800" y="1389888"/>
            <a:ext cx="3200400" cy="347472"/>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Grow high-value care</a:t>
            </a:r>
            <a:endParaRPr lang="en-US" sz="1800" dirty="0"/>
          </a:p>
        </p:txBody>
      </p:sp>
      <p:sp>
        <p:nvSpPr>
          <p:cNvPr id="11" name="Text 8"/>
          <p:cNvSpPr txBox="1"/>
          <p:nvPr/>
        </p:nvSpPr>
        <p:spPr>
          <a:xfrm>
            <a:off x="4846320" y="1874520"/>
            <a:ext cx="3657600" cy="914400"/>
          </a:xfrm>
          <a:prstGeom prst="rect">
            <a:avLst/>
          </a:prstGeom>
          <a:noFill/>
          <a:ln/>
        </p:spPr>
        <p:txBody>
          <a:bodyPr wrap="square" lIns="0" tIns="0" rIns="0" bIns="0" rtlCol="0" anchor="t"/>
          <a:lstStyle/>
          <a:p>
            <a:pPr indent="0" marL="0">
              <a:buNone/>
            </a:pPr>
            <a:r>
              <a:rPr lang="en-US" sz="1600" dirty="0">
                <a:solidFill>
                  <a:schemeClr val="tx1"/>
                </a:solidFill>
              </a:rPr>
              <a:t>Add slots in Cardiology, Neurology and Orthopedics, the highest-fee specialties.</a:t>
            </a:r>
            <a:endParaRPr lang="en-US" sz="1600" dirty="0"/>
          </a:p>
        </p:txBody>
      </p:sp>
      <p:sp>
        <p:nvSpPr>
          <p:cNvPr id="12" name="Decision action 3"/>
          <p:cNvSpPr/>
          <p:nvPr/>
        </p:nvSpPr>
        <p:spPr>
          <a:xfrm>
            <a:off x="457200" y="2971800"/>
            <a:ext cx="4023360" cy="1600200"/>
          </a:xfrm>
          <a:prstGeom prst="roundRect">
            <a:avLst>
              <a:gd name="adj" fmla="val 5714"/>
            </a:avLst>
          </a:prstGeom>
          <a:solidFill>
            <a:schemeClr val="bg2"/>
          </a:solidFill>
          <a:ln/>
        </p:spPr>
      </p:sp>
      <p:sp>
        <p:nvSpPr>
          <p:cNvPr id="13" name="Action dot 3"/>
          <p:cNvSpPr/>
          <p:nvPr/>
        </p:nvSpPr>
        <p:spPr>
          <a:xfrm>
            <a:off x="640080" y="3154680"/>
            <a:ext cx="292608" cy="292608"/>
          </a:xfrm>
          <a:prstGeom prst="ellipse">
            <a:avLst/>
          </a:prstGeom>
          <a:solidFill>
            <a:schemeClr val="accent5"/>
          </a:solidFill>
          <a:ln/>
        </p:spPr>
      </p:sp>
      <p:sp>
        <p:nvSpPr>
          <p:cNvPr id="14" name="Text 11"/>
          <p:cNvSpPr txBox="1"/>
          <p:nvPr/>
        </p:nvSpPr>
        <p:spPr>
          <a:xfrm>
            <a:off x="1051560" y="3127248"/>
            <a:ext cx="3200400" cy="347472"/>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Strengthen payer mix</a:t>
            </a:r>
            <a:endParaRPr lang="en-US" sz="1800" dirty="0"/>
          </a:p>
        </p:txBody>
      </p:sp>
      <p:sp>
        <p:nvSpPr>
          <p:cNvPr id="15" name="Text 12"/>
          <p:cNvSpPr txBox="1"/>
          <p:nvPr/>
        </p:nvSpPr>
        <p:spPr>
          <a:xfrm>
            <a:off x="640080" y="3611880"/>
            <a:ext cx="3657600" cy="914400"/>
          </a:xfrm>
          <a:prstGeom prst="rect">
            <a:avLst/>
          </a:prstGeom>
          <a:noFill/>
          <a:ln/>
        </p:spPr>
        <p:txBody>
          <a:bodyPr wrap="square" lIns="0" tIns="0" rIns="0" bIns="0" rtlCol="0" anchor="t"/>
          <a:lstStyle/>
          <a:p>
            <a:pPr indent="0" marL="0">
              <a:buNone/>
            </a:pPr>
            <a:r>
              <a:rPr lang="en-US" sz="1600" dirty="0">
                <a:solidFill>
                  <a:schemeClr val="tx1"/>
                </a:solidFill>
              </a:rPr>
              <a:t>Prioritise contracts with Star Health and HDFC ERGO; speed up claim processing.</a:t>
            </a:r>
            <a:endParaRPr lang="en-US" sz="1600" dirty="0"/>
          </a:p>
        </p:txBody>
      </p:sp>
      <p:sp>
        <p:nvSpPr>
          <p:cNvPr id="16" name="Decision action 4"/>
          <p:cNvSpPr/>
          <p:nvPr/>
        </p:nvSpPr>
        <p:spPr>
          <a:xfrm>
            <a:off x="4663440" y="2971800"/>
            <a:ext cx="4023360" cy="1600200"/>
          </a:xfrm>
          <a:prstGeom prst="roundRect">
            <a:avLst>
              <a:gd name="adj" fmla="val 5714"/>
            </a:avLst>
          </a:prstGeom>
          <a:solidFill>
            <a:schemeClr val="bg2"/>
          </a:solidFill>
          <a:ln/>
        </p:spPr>
      </p:sp>
      <p:sp>
        <p:nvSpPr>
          <p:cNvPr id="17" name="Action dot 4"/>
          <p:cNvSpPr/>
          <p:nvPr/>
        </p:nvSpPr>
        <p:spPr>
          <a:xfrm>
            <a:off x="4846320" y="3154680"/>
            <a:ext cx="292608" cy="292608"/>
          </a:xfrm>
          <a:prstGeom prst="ellipse">
            <a:avLst/>
          </a:prstGeom>
          <a:solidFill>
            <a:schemeClr val="accent3"/>
          </a:solidFill>
          <a:ln/>
        </p:spPr>
      </p:sp>
      <p:sp>
        <p:nvSpPr>
          <p:cNvPr id="18" name="Text 15"/>
          <p:cNvSpPr txBox="1"/>
          <p:nvPr/>
        </p:nvSpPr>
        <p:spPr>
          <a:xfrm>
            <a:off x="5257800" y="3127248"/>
            <a:ext cx="3200400" cy="347472"/>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Close branch gaps</a:t>
            </a:r>
            <a:endParaRPr lang="en-US" sz="1800" dirty="0"/>
          </a:p>
        </p:txBody>
      </p:sp>
      <p:sp>
        <p:nvSpPr>
          <p:cNvPr id="19" name="Text 16"/>
          <p:cNvSpPr txBox="1"/>
          <p:nvPr/>
        </p:nvSpPr>
        <p:spPr>
          <a:xfrm>
            <a:off x="4846320" y="3611880"/>
            <a:ext cx="3657600" cy="914400"/>
          </a:xfrm>
          <a:prstGeom prst="rect">
            <a:avLst/>
          </a:prstGeom>
          <a:noFill/>
          <a:ln/>
        </p:spPr>
        <p:txBody>
          <a:bodyPr wrap="square" lIns="0" tIns="0" rIns="0" bIns="0" rtlCol="0" anchor="t"/>
          <a:lstStyle/>
          <a:p>
            <a:pPr indent="0" marL="0">
              <a:buNone/>
            </a:pPr>
            <a:r>
              <a:rPr lang="en-US" sz="1600" dirty="0">
                <a:solidFill>
                  <a:schemeClr val="tx1"/>
                </a:solidFill>
              </a:rPr>
              <a:t>Compare branches: no-show runs from 3.9% to 13.5%. Copy what top branches do.</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Conclusion and limitations</a:t>
            </a:r>
            <a:endParaRPr lang="en-US" sz="2800" dirty="0"/>
          </a:p>
        </p:txBody>
      </p:sp>
      <p:sp>
        <p:nvSpPr>
          <p:cNvPr id="4" name="Conclusion card 1"/>
          <p:cNvSpPr/>
          <p:nvPr/>
        </p:nvSpPr>
        <p:spPr>
          <a:xfrm>
            <a:off x="457200" y="1234440"/>
            <a:ext cx="4023360" cy="3383280"/>
          </a:xfrm>
          <a:prstGeom prst="roundRect">
            <a:avLst>
              <a:gd name="adj" fmla="val 2703"/>
            </a:avLst>
          </a:prstGeom>
          <a:solidFill>
            <a:schemeClr val="bg2"/>
          </a:solidFill>
          <a:ln/>
        </p:spPr>
      </p:sp>
      <p:sp>
        <p:nvSpPr>
          <p:cNvPr id="5" name="Conclusion badge 1"/>
          <p:cNvSpPr/>
          <p:nvPr/>
        </p:nvSpPr>
        <p:spPr>
          <a:xfrm>
            <a:off x="685800" y="1463040"/>
            <a:ext cx="365760" cy="365760"/>
          </a:xfrm>
          <a:prstGeom prst="ellipse">
            <a:avLst/>
          </a:prstGeom>
          <a:solidFill>
            <a:schemeClr val="accent1"/>
          </a:solidFill>
          <a:ln/>
        </p:spPr>
      </p:sp>
      <p:sp>
        <p:nvSpPr>
          <p:cNvPr id="6" name="Text 3"/>
          <p:cNvSpPr txBox="1"/>
          <p:nvPr/>
        </p:nvSpPr>
        <p:spPr>
          <a:xfrm>
            <a:off x="1188720" y="1435608"/>
            <a:ext cx="310896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 the dashboard delivers</a:t>
            </a:r>
            <a:endParaRPr lang="en-US" sz="1800" dirty="0"/>
          </a:p>
        </p:txBody>
      </p:sp>
      <p:sp>
        <p:nvSpPr>
          <p:cNvPr id="7" name="Text 4"/>
          <p:cNvSpPr txBox="1"/>
          <p:nvPr/>
        </p:nvSpPr>
        <p:spPr>
          <a:xfrm>
            <a:off x="731520" y="2103120"/>
            <a:ext cx="3520440" cy="23774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One view of volume, revenue and leakage</a:t>
            </a:r>
            <a:endParaRPr lang="en-US" sz="1600" dirty="0"/>
          </a:p>
          <a:p>
            <a:pPr marL="342900" indent="-342900">
              <a:spcAft>
                <a:spcPts val="1400"/>
              </a:spcAft>
              <a:buSzPct val="100000"/>
              <a:buChar char="•"/>
            </a:pPr>
            <a:r>
              <a:rPr lang="en-US" sz="1600" dirty="0">
                <a:solidFill>
                  <a:schemeClr val="tx1"/>
                </a:solidFill>
              </a:rPr>
              <a:t>Drill-down by department, branch, doctor and patient</a:t>
            </a:r>
            <a:endParaRPr lang="en-US" sz="1600" dirty="0"/>
          </a:p>
          <a:p>
            <a:pPr marL="342900" indent="-342900">
              <a:spcAft>
                <a:spcPts val="1400"/>
              </a:spcAft>
              <a:buSzPct val="100000"/>
              <a:buChar char="•"/>
            </a:pPr>
            <a:r>
              <a:rPr lang="en-US" sz="1600" dirty="0">
                <a:solidFill>
                  <a:schemeClr val="tx1"/>
                </a:solidFill>
              </a:rPr>
              <a:t>Clear targets: no-show and cancellation rates</a:t>
            </a:r>
            <a:endParaRPr lang="en-US" sz="1600" dirty="0"/>
          </a:p>
        </p:txBody>
      </p:sp>
      <p:sp>
        <p:nvSpPr>
          <p:cNvPr id="8" name="Conclusion card 2"/>
          <p:cNvSpPr/>
          <p:nvPr/>
        </p:nvSpPr>
        <p:spPr>
          <a:xfrm>
            <a:off x="4663440" y="1234440"/>
            <a:ext cx="4023360" cy="3383280"/>
          </a:xfrm>
          <a:prstGeom prst="roundRect">
            <a:avLst>
              <a:gd name="adj" fmla="val 2703"/>
            </a:avLst>
          </a:prstGeom>
          <a:solidFill>
            <a:schemeClr val="bg2"/>
          </a:solidFill>
          <a:ln/>
        </p:spPr>
      </p:sp>
      <p:sp>
        <p:nvSpPr>
          <p:cNvPr id="9" name="Conclusion badge 2"/>
          <p:cNvSpPr/>
          <p:nvPr/>
        </p:nvSpPr>
        <p:spPr>
          <a:xfrm>
            <a:off x="4892040" y="1463040"/>
            <a:ext cx="365760" cy="365760"/>
          </a:xfrm>
          <a:prstGeom prst="ellipse">
            <a:avLst/>
          </a:prstGeom>
          <a:solidFill>
            <a:schemeClr val="accent2"/>
          </a:solidFill>
          <a:ln/>
        </p:spPr>
      </p:sp>
      <p:sp>
        <p:nvSpPr>
          <p:cNvPr id="10" name="Text 7"/>
          <p:cNvSpPr txBox="1"/>
          <p:nvPr/>
        </p:nvSpPr>
        <p:spPr>
          <a:xfrm>
            <a:off x="5394960" y="1435608"/>
            <a:ext cx="310896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Limitations and next steps</a:t>
            </a:r>
            <a:endParaRPr lang="en-US" sz="1800" dirty="0"/>
          </a:p>
        </p:txBody>
      </p:sp>
      <p:sp>
        <p:nvSpPr>
          <p:cNvPr id="11" name="Text 8"/>
          <p:cNvSpPr txBox="1"/>
          <p:nvPr/>
        </p:nvSpPr>
        <p:spPr>
          <a:xfrm>
            <a:off x="4937760" y="2103120"/>
            <a:ext cx="3520440" cy="23774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Synthetic data; revenue is completed consultation fees only</a:t>
            </a:r>
            <a:endParaRPr lang="en-US" sz="1600" dirty="0"/>
          </a:p>
          <a:p>
            <a:pPr marL="342900" indent="-342900">
              <a:spcAft>
                <a:spcPts val="1400"/>
              </a:spcAft>
              <a:buSzPct val="100000"/>
              <a:buChar char="•"/>
            </a:pPr>
            <a:r>
              <a:rPr lang="en-US" sz="1600" dirty="0">
                <a:solidFill>
                  <a:schemeClr val="tx1"/>
                </a:solidFill>
              </a:rPr>
              <a:t>2026 includes future scheduled bookings</a:t>
            </a:r>
            <a:endParaRPr lang="en-US" sz="1600" dirty="0"/>
          </a:p>
          <a:p>
            <a:pPr marL="342900" indent="-342900">
              <a:spcAft>
                <a:spcPts val="1400"/>
              </a:spcAft>
              <a:buSzPct val="100000"/>
              <a:buChar char="•"/>
            </a:pPr>
            <a:r>
              <a:rPr lang="en-US" sz="1600" dirty="0">
                <a:solidFill>
                  <a:schemeClr val="tx1"/>
                </a:solidFill>
              </a:rPr>
              <a:t>Next: forecasting, drill-through, branch-level security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Medical cross"/>
          <p:cNvSpPr/>
          <p:nvPr/>
        </p:nvSpPr>
        <p:spPr>
          <a:xfrm>
            <a:off x="-914400" y="2743200"/>
            <a:ext cx="3108960" cy="3108960"/>
          </a:xfrm>
          <a:prstGeom prst="mathPlus">
            <a:avLst/>
          </a:prstGeom>
          <a:solidFill>
            <a:schemeClr val="accent1">
              <a:alpha val="65000"/>
            </a:schemeClr>
          </a:solidFill>
          <a:ln/>
        </p:spPr>
      </p:sp>
      <p:sp>
        <p:nvSpPr>
          <p:cNvPr id="3" name="Medical cross small"/>
          <p:cNvSpPr/>
          <p:nvPr/>
        </p:nvSpPr>
        <p:spPr>
          <a:xfrm>
            <a:off x="7680960" y="-457200"/>
            <a:ext cx="2011680" cy="2011680"/>
          </a:xfrm>
          <a:prstGeom prst="mathPlus">
            <a:avLst/>
          </a:prstGeom>
          <a:solidFill>
            <a:schemeClr val="accent2">
              <a:alpha val="75000"/>
            </a:schemeClr>
          </a:solidFill>
          <a:ln/>
        </p:spPr>
      </p:sp>
      <p:sp>
        <p:nvSpPr>
          <p:cNvPr id="4" name="Text 2"/>
          <p:cNvSpPr txBox="1"/>
          <p:nvPr/>
        </p:nvSpPr>
        <p:spPr>
          <a:xfrm>
            <a:off x="548640" y="1463040"/>
            <a:ext cx="8046720" cy="914400"/>
          </a:xfrm>
          <a:prstGeom prst="rect">
            <a:avLst/>
          </a:prstGeom>
          <a:noFill/>
          <a:ln/>
        </p:spPr>
        <p:txBody>
          <a:bodyPr wrap="square" lIns="0" tIns="0" rIns="0" bIns="0" rtlCol="0" anchor="t"/>
          <a:lstStyle/>
          <a:p>
            <a:pPr algn="ct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548640" y="2468880"/>
            <a:ext cx="8046720" cy="548640"/>
          </a:xfrm>
          <a:prstGeom prst="rect">
            <a:avLst/>
          </a:prstGeom>
          <a:noFill/>
          <a:ln/>
        </p:spPr>
        <p:txBody>
          <a:bodyPr wrap="square" lIns="0" tIns="0" rIns="0" bIns="0" rtlCol="0" anchor="t"/>
          <a:lstStyle/>
          <a:p>
            <a:pPr algn="ctr" indent="0" marL="0">
              <a:buNone/>
            </a:pPr>
            <a:r>
              <a:rPr lang="en-US" sz="2400" dirty="0">
                <a:solidFill>
                  <a:schemeClr val="accent2"/>
                </a:solidFill>
              </a:rPr>
              <a:t>Questions?</a:t>
            </a:r>
            <a:endParaRPr lang="en-US" sz="2400" dirty="0"/>
          </a:p>
        </p:txBody>
      </p:sp>
      <p:sp>
        <p:nvSpPr>
          <p:cNvPr id="6" name="Text 4"/>
          <p:cNvSpPr txBox="1"/>
          <p:nvPr/>
        </p:nvSpPr>
        <p:spPr>
          <a:xfrm>
            <a:off x="548640" y="3840480"/>
            <a:ext cx="8046720" cy="365760"/>
          </a:xfrm>
          <a:prstGeom prst="rect">
            <a:avLst/>
          </a:prstGeom>
          <a:noFill/>
          <a:ln/>
        </p:spPr>
        <p:txBody>
          <a:bodyPr wrap="square" lIns="0" tIns="0" rIns="0" bIns="0" rtlCol="0" anchor="t"/>
          <a:lstStyle/>
          <a:p>
            <a:pPr algn="ctr" indent="0" marL="0">
              <a:buNone/>
            </a:pPr>
            <a:r>
              <a:rPr lang="en-US" sz="1400" dirty="0">
                <a:solidFill>
                  <a:schemeClr val="bg2"/>
                </a:solidFill>
              </a:rPr>
              <a:t>Siddhant Chikate  |  Aspiring Data Engineer / Analyst</a:t>
            </a:r>
            <a:endParaRPr lang="en-US" sz="1400" dirty="0"/>
          </a:p>
        </p:txBody>
      </p:sp>
    </p:spTree>
  </p:cSld>
  <p:clrMapOvr>
    <a:masterClrMapping/>
  </p:clrMapOvr>
</p:sld>
</file>

<file path=ppt/theme/theme1.xml><?xml version="1.0" encoding="utf-8"?>
<a:theme xmlns:a="http://schemas.openxmlformats.org/drawingml/2006/main" name="Medvista Pulse">
  <a:themeElements>
    <a:clrScheme name="Medvista Pulse">
      <a:dk1>
        <a:srgbClr val="0B1F33"/>
      </a:dk1>
      <a:lt1>
        <a:srgbClr val="FFFFFF"/>
      </a:lt1>
      <a:dk2>
        <a:srgbClr val="0F766E"/>
      </a:dk2>
      <a:lt2>
        <a:srgbClr val="EEF5F4"/>
      </a:lt2>
      <a:accent1>
        <a:srgbClr val="0F766E"/>
      </a:accent1>
      <a:accent2>
        <a:srgbClr val="F6A623"/>
      </a:accent2>
      <a:accent3>
        <a:srgbClr val="2B6CB0"/>
      </a:accent3>
      <a:accent4>
        <a:srgbClr val="F2545B"/>
      </a:accent4>
      <a:accent5>
        <a:srgbClr val="7C5CBF"/>
      </a:accent5>
      <a:accent6>
        <a:srgbClr val="14B8A6"/>
      </a:accent6>
      <a:hlink>
        <a:srgbClr val="2B6CB0"/>
      </a:hlink>
      <a:folHlink>
        <a:srgbClr val="7C5CBF"/>
      </a:folHlink>
    </a:clrScheme>
    <a:fontScheme name="Medvista 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Appointment &amp; Revenue Analytics Dashboard - Mock Presentation</dc:title>
  <dc:subject>PptxGenJS Presentation</dc:subject>
  <dc:creator>Siddhant Chikate</dc:creator>
  <cp:lastModifiedBy>Siddhant Chikate</cp:lastModifiedBy>
  <cp:revision>1</cp:revision>
  <dcterms:created xsi:type="dcterms:W3CDTF">2026-10-21T06:43:25Z</dcterms:created>
  <dcterms:modified xsi:type="dcterms:W3CDTF">2026-10-21T06:43:25Z</dcterms:modified>
</cp:coreProperties>
</file>